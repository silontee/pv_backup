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029200"/>
            <a:ext cx="2743200" cy="2743200"/>
          </a:xfrm>
          <a:prstGeom prst="ellipse">
            <a:avLst/>
          </a:prstGeom>
          <a:solidFill>
            <a:srgbClr val="0D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0" y="-457200"/>
            <a:ext cx="1828800" cy="1828800"/>
          </a:xfrm>
          <a:prstGeom prst="ellipse">
            <a:avLst/>
          </a:prstGeom>
          <a:solidFill>
            <a:srgbClr val="0D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D4A1"/>
                </a:solidFill>
                <a:latin typeface="맑은 고딕"/>
              </a:defRPr>
            </a:pPr>
            <a:r>
              <a:t>한국남동발전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맑은 고딕"/>
              </a:defRPr>
            </a:pPr>
            <a:r>
              <a:t>태양광 변동성 대비</a:t>
            </a:r>
            <a:br/>
            <a:r>
              <a:t>화력 백업 최적화</a:t>
            </a:r>
            <a:br/>
            <a:r>
              <a:t>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CC4A8"/>
                </a:solidFill>
                <a:latin typeface="맑은 고딕"/>
              </a:defRPr>
            </a:pPr>
            <a:r>
              <a:t>내부 의사결정 지원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A5E"/>
                </a:solidFill>
                <a:latin typeface="맑은 고딕"/>
              </a:defRPr>
            </a:pPr>
            <a:r>
              <a:t>Product Requirements Document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3063240"/>
            <a:ext cx="137160" cy="137160"/>
          </a:xfrm>
          <a:prstGeom prst="ellipse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맑은 고딕"/>
              </a:defRPr>
            </a:pPr>
            <a:r>
              <a:t>태양광 변동성 정밀 예측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3520440"/>
            <a:ext cx="137160" cy="137160"/>
          </a:xfrm>
          <a:prstGeom prst="ellipse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맑은 고딕"/>
              </a:defRPr>
            </a:pPr>
            <a:r>
              <a:t>화력 포트폴리오 최적 대응 계획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3977640"/>
            <a:ext cx="137160" cy="137160"/>
          </a:xfrm>
          <a:prstGeom prst="ellipse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맑은 고딕"/>
              </a:defRPr>
            </a:pPr>
            <a:r>
              <a:t>사전 대비 → 실시간 감시 → 실시간 대응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4434840"/>
            <a:ext cx="137160" cy="137160"/>
          </a:xfrm>
          <a:prstGeom prst="ellipse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맑은 고딕"/>
              </a:defRPr>
            </a:pPr>
            <a:r>
              <a:t>ESG 대기질 영향 시각화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5486400"/>
            <a:ext cx="2286000" cy="457200"/>
          </a:xfrm>
          <a:prstGeom prst="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532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5E"/>
                </a:solidFill>
                <a:latin typeface="맑은 고딕"/>
              </a:defRPr>
            </a:pPr>
            <a:r>
              <a:t>  PRD v4  ·  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3D2E"/>
                </a:solidFill>
                <a:latin typeface="맑은 고딕"/>
              </a:defRPr>
            </a:pPr>
            <a:r>
              <a:t>왜 이 플랫폼이 필요한가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743200" cy="27432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2468880"/>
          </a:xfrm>
          <a:prstGeom prst="roundRect">
            <a:avLst/>
          </a:prstGeom>
          <a:solidFill>
            <a:srgbClr val="FFF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3291840" cy="45720"/>
          </a:xfrm>
          <a:prstGeom prst="rect">
            <a:avLst/>
          </a:prstGeom>
          <a:solidFill>
            <a:srgbClr val="E88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8D2A"/>
                </a:solidFill>
                <a:latin typeface="맑은 고딕"/>
              </a:defRPr>
            </a:pPr>
            <a:r>
              <a:t>☀  태양광: 무조건 최대 발전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변동비 0원 → 최우선 급전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나오는 만큼 전량 입찰 (원칙)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968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BUT: 내일 얼마 나올지 모른다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구름 많은 날 오차 15~30%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급변 날씨 오차 30~60%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463040"/>
            <a:ext cx="3291840" cy="246888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463040"/>
            <a:ext cx="3291840" cy="4572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5E"/>
                </a:solidFill>
                <a:latin typeface="맑은 고딕"/>
              </a:defRPr>
            </a:pPr>
            <a:r>
              <a:t>🏭  화력: 이미 돌아가고 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최소출력 합계 ~6,387MW가 24시간 가동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석탄 60%, LNG 48% 이하로 못 내림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5968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출력 정밀도: ±1~3% (매우 정확)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BUT: 미리 준비해야 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090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석탄 Cold 기동: 12~24시간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463040"/>
            <a:ext cx="3291840" cy="246888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463040"/>
            <a:ext cx="3291840" cy="45720"/>
          </a:xfrm>
          <a:prstGeom prst="rect">
            <a:avLst/>
          </a:prstGeom>
          <a:solidFill>
            <a:srgbClr val="D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A3A"/>
                </a:solidFill>
                <a:latin typeface="맑은 고딕"/>
              </a:defRPr>
            </a:pPr>
            <a:r>
              <a:t>⚡  충돌: 불확실 × 느림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태양광 급감 → 화력 올려야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석탄 램프: 9~26MW/분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5968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태양광 과잉 → 화력 내려야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최소출력 이하로 못 내림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090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끄면 재기동 수 시간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297680"/>
            <a:ext cx="10698480" cy="21031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44805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D4A1"/>
                </a:solidFill>
                <a:latin typeface="맑은 고딕"/>
              </a:defRPr>
            </a:pPr>
            <a:r>
              <a:t>핵심 인사이트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89204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E5D9"/>
                </a:solidFill>
                <a:latin typeface="맑은 고딕"/>
              </a:defRPr>
            </a:pPr>
            <a:r>
              <a:t>태양광은 "내일 얼마 나올지 모르겠다"  →  불확실</a:t>
            </a:r>
            <a:br/>
            <a:r>
              <a:t>화력은 "얼마를 내라고 하면 정확히 내지만, 미리 말해줘야 한다"  →  정확하지만 느림</a:t>
            </a:r>
            <a:br/>
            <a:br/>
            <a:r>
              <a:t>태양광 예측을 잘 해서, 화력에게 미리 정확한 지시를 내리는 것이 핵심</a:t>
            </a:r>
            <a:br/>
            <a:r>
              <a:t>이 지시 = D-1일 가용용량 신고 = 입찰 최적화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3D2E"/>
                </a:solidFill>
                <a:latin typeface="맑은 고딕"/>
              </a:defRPr>
            </a:pPr>
            <a:r>
              <a:t>현행 제도와 경쟁 환경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743200" cy="27432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029200" cy="210312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63040"/>
            <a:ext cx="5029200" cy="4572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5E"/>
                </a:solidFill>
                <a:latin typeface="맑은 고딕"/>
              </a:defRPr>
            </a:pPr>
            <a:r>
              <a:t>한국 전력시장 (CBP) 입찰 프로세스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D-1일 10:00   1차 예측 &amp; 가용용량 신고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585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D-1일 17:00   2차 예측 (최신 기상으로 보정)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0545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D-1일 저녁     KPX 급전계획 확정 → 발전사 통보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5234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D일 실시간     급전지시에 따라 발전 수행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변동비 기반 → 가격이 아닌 가용용량 최적화가 핵심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029200" cy="2103120"/>
          </a:xfrm>
          <a:prstGeom prst="round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029200" cy="45720"/>
          </a:xfrm>
          <a:prstGeom prst="rect">
            <a:avLst/>
          </a:prstGeom>
          <a:solidFill>
            <a:srgbClr val="38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45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ED1"/>
                </a:solidFill>
                <a:latin typeface="맑은 고딕"/>
              </a:defRPr>
            </a:pPr>
            <a:r>
              <a:t>재생에너지 예측제도 (2021.10~)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116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20MW 초과 태양광/풍력 → 예측 제출 의무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2585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D-1일 10시, 17시 2차에 걸쳐 제출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0545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기준오차율 충족 시 인센티브 / 미충족 시 페널티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437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→ 남동발전도 이미 예측하고 있음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90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→ 하지만 구체적 시스템/정확도 미공개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023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3D2E"/>
                </a:solidFill>
                <a:latin typeface="맑은 고딕"/>
              </a:defRPr>
            </a:pPr>
            <a:r>
              <a:t>경쟁 벤치마크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발전사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예측 시스템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정확도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화력 연계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754880"/>
            <a:ext cx="102412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782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한국중부발전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782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AI (제이케이코어 공동)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782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99% (2026.2 발표)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782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2030 통합 운영 목표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5212080"/>
            <a:ext cx="10241280" cy="41148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239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한전 (KEPCO)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239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AI 재생에너지 예측 기술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5239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2km 격자, 1주일 예측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5239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개발 완료 (2021)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696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한국남동발전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696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미공개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696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5E"/>
                </a:solidFill>
                <a:latin typeface="맑은 고딕"/>
              </a:defRPr>
            </a:pPr>
            <a:r>
              <a:t>미공개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56967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5E"/>
                </a:solidFill>
                <a:latin typeface="맑은 고딕"/>
              </a:defRPr>
            </a:pPr>
            <a:r>
              <a:t>본 플랫폼이 해결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3D2E"/>
                </a:solidFill>
                <a:latin typeface="맑은 고딕"/>
              </a:defRPr>
            </a:pPr>
            <a:r>
              <a:t>플랫폼 3단계 운영 모드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743200" cy="27432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1097280" cy="365760"/>
          </a:xfrm>
          <a:prstGeom prst="round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72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5E"/>
                </a:solidFill>
                <a:latin typeface="맑은 고딕"/>
              </a:defRPr>
            </a:pPr>
            <a:r>
              <a:t>사전 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8A"/>
                </a:solidFill>
                <a:latin typeface="맑은 고딕"/>
              </a:defRPr>
            </a:pPr>
            <a:r>
              <a:t>D-1일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77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D-1 10:00  1차 예측 &amp; 대응 계획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606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D-1 17:00  2차 보정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077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기상 데이터: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36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LDAPS 수치예보 (하루 8회)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3649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단기예보 (하루 8회)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935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초단기예보 (30분마다)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953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산출물: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239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24시간 태양광 예측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525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화력 액션 플랜 타임라인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811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시나리오별 비교표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97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KPX 가용용량 신고안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A67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1371600"/>
            <a:ext cx="3474720" cy="4754880"/>
          </a:xfrm>
          <a:prstGeom prst="round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9" y="1371600"/>
            <a:ext cx="3474720" cy="54864"/>
          </a:xfrm>
          <a:prstGeom prst="rect">
            <a:avLst/>
          </a:prstGeom>
          <a:solidFill>
            <a:srgbClr val="38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59" y="1554480"/>
            <a:ext cx="1097280" cy="365760"/>
          </a:xfrm>
          <a:prstGeom prst="roundRect">
            <a:avLst/>
          </a:prstGeom>
          <a:solidFill>
            <a:srgbClr val="38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1572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STEP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9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8ED1"/>
                </a:solidFill>
                <a:latin typeface="맑은 고딕"/>
              </a:defRPr>
            </a:pPr>
            <a:r>
              <a:t>실시간 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999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8A"/>
                </a:solidFill>
                <a:latin typeface="맑은 고딕"/>
              </a:defRPr>
            </a:pPr>
            <a:r>
              <a:t>D일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999" y="2377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매 30분 예측 갱신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999" y="2606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매 10분 위성 구름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1999" y="29077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데이터: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1999" y="3136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초단기예보 (30분마다)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1999" y="33649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위성 영상 (10분마다)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1999" y="35935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발전소 기상 실측 (실시간)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1999" y="38221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태양광 발전 실측 (실시간)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1999" y="41239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핵심: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1999" y="43525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예측 vs 실측 괴리 감지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1999" y="45811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향후 3~6시간 예측 갱신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399" y="32004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A67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19" y="1371600"/>
            <a:ext cx="3474720" cy="475488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19" y="1371600"/>
            <a:ext cx="3474720" cy="54864"/>
          </a:xfrm>
          <a:prstGeom prst="rect">
            <a:avLst/>
          </a:prstGeom>
          <a:solidFill>
            <a:srgbClr val="D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29599" y="1554480"/>
            <a:ext cx="1097280" cy="365760"/>
          </a:xfrm>
          <a:prstGeom prst="roundRect">
            <a:avLst/>
          </a:prstGeom>
          <a:solidFill>
            <a:srgbClr val="D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599" y="1572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STEP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19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3A3A"/>
                </a:solidFill>
                <a:latin typeface="맑은 고딕"/>
              </a:defRPr>
            </a:pPr>
            <a:r>
              <a:t>실시간 대응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39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A8A"/>
                </a:solidFill>
                <a:latin typeface="맑은 고딕"/>
              </a:defRPr>
            </a:pPr>
            <a:r>
              <a:t>이벤트 발생 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39" y="2377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"태양광이 예측보다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39" y="26060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300MW 적게 나오고 있습니다"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39" y="29077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시스템 자동: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39" y="31363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최신 기상으로 재계산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39" y="336499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화력 조정 지시 즉시 갱신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39" y="36667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출력 예시: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39" y="38953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"영흥 2호 지금 출력 증가"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39" y="41239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  "분당 1호 기동 준비 (45분)"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39" y="442569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→ 사후 대비가 핵심 가치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3D2E"/>
                </a:solidFill>
                <a:latin typeface="맑은 고딕"/>
              </a:defRPr>
            </a:pPr>
            <a:r>
              <a:t>기상 데이터 전략: 기상청 오차 극복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743200" cy="27432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640080"/>
          </a:xfrm>
          <a:prstGeom prst="roundRect">
            <a:avLst/>
          </a:prstGeom>
          <a:solidFill>
            <a:srgbClr val="FFF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8D2A"/>
                </a:solidFill>
                <a:latin typeface="맑은 고딕"/>
              </a:defRPr>
            </a:pPr>
            <a:r>
              <a:t>"기상청이 틀린만큼 틀리는 것 아닌가?"  →  기상청만 쓰면 그렇다. 다중 소스를 쓰면 극복 가능.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데이터 소스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해상도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갱신 주기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9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범위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286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용도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651760"/>
            <a:ext cx="10972800" cy="402336"/>
          </a:xfrm>
          <a:prstGeom prst="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LDAPS 수치예보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670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1.5km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70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하루 8회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2670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48시간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67004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하루전 예측 주입력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90672"/>
            <a:ext cx="109728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089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단기예보 (동네예보)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1089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5km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1089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하루 8회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31089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3일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10895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하루전 예측 보조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529584"/>
            <a:ext cx="10972800" cy="402336"/>
          </a:xfrm>
          <a:prstGeom prst="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547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초단기예보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547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5km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547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A67E"/>
                </a:solidFill>
                <a:latin typeface="맑은 고딕"/>
              </a:defRPr>
            </a:pPr>
            <a:r>
              <a:t>30분마다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199" y="3547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6시간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547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실시간 보정 핵심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968495"/>
            <a:ext cx="109728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위성 영상 (천리안2A)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2km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D4A1"/>
                </a:solidFill>
                <a:latin typeface="맑은 고딕"/>
              </a:defRPr>
            </a:pPr>
            <a:r>
              <a:t>10분마다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199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실시간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구름 급변 탐지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407408"/>
            <a:ext cx="10972800" cy="402336"/>
          </a:xfrm>
          <a:prstGeom prst="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256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발전소 현장 관측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44256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포인트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44256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D4A1"/>
                </a:solidFill>
                <a:latin typeface="맑은 고딕"/>
              </a:defRPr>
            </a:pPr>
            <a:r>
              <a:t>실시간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199" y="44256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현재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4256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실측 기반 보정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846320"/>
            <a:ext cx="1097280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864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태양광 발전 실측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6080" y="4864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인버터별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4864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D4A1"/>
                </a:solidFill>
                <a:latin typeface="맑은 고딕"/>
              </a:defRPr>
            </a:pPr>
            <a:r>
              <a:t>실시간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199" y="4864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현재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60" y="4864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예측 vs 실측 비교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8720" y="52120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D4A1"/>
                </a:solidFill>
                <a:latin typeface="맑은 고딕"/>
              </a:defRPr>
            </a:pPr>
            <a:r>
              <a:t>극복 전략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5532120"/>
            <a:ext cx="9784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E5D9"/>
                </a:solidFill>
                <a:latin typeface="맑은 고딕"/>
              </a:defRPr>
            </a:pPr>
            <a:r>
              <a:t>① 다중 소스 앙상블: LDAPS + 위성 + 실측 결합 → 단일 소스 의존도 감소</a:t>
            </a:r>
            <a:br/>
            <a:r>
              <a:t>② 위성 기반 초단기: 구름 이동 직접 관측 → 2~3시간 예측에서 NWP보다 우수</a:t>
            </a:r>
            <a:br/>
            <a:r>
              <a:t>③ 실측 피드백: 현재 예측-실측 차이를 실시간 보정</a:t>
            </a:r>
            <a:br/>
            <a:r>
              <a:t>④ 과거 패턴 학습: "이 기상 조건에서 기상청이 얼마나 틀렸는지" 학습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3D2E"/>
                </a:solidFill>
                <a:latin typeface="맑은 고딕"/>
              </a:defRPr>
            </a:pPr>
            <a:r>
              <a:t>태양광 예측 모델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743200" cy="27432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011680" cy="1828800"/>
          </a:xfrm>
          <a:prstGeom prst="round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맑은 고딕"/>
              </a:defRPr>
            </a:pPr>
            <a:r>
              <a:t>통계</a:t>
            </a:r>
            <a:br/>
            <a:r>
              <a:t>(회귀/ARIMA)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A8A"/>
                </a:solidFill>
                <a:latin typeface="맑은 고딕"/>
              </a:defRPr>
            </a:pPr>
            <a:r>
              <a:t>nRMSE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A8A8A"/>
                </a:solidFill>
                <a:latin typeface="맑은 고딕"/>
              </a:defRPr>
            </a:pPr>
            <a:r>
              <a:t>15~25%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371600"/>
            <a:ext cx="2011680" cy="1828800"/>
          </a:xfrm>
          <a:prstGeom prst="round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508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맑은 고딕"/>
              </a:defRPr>
            </a:pPr>
            <a:r>
              <a:t>ML</a:t>
            </a:r>
            <a:br/>
            <a:r>
              <a:t>(XGBoost)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A8A"/>
                </a:solidFill>
                <a:latin typeface="맑은 고딕"/>
              </a:defRPr>
            </a:pPr>
            <a:r>
              <a:t>nRMSE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8D2A"/>
                </a:solidFill>
                <a:latin typeface="맑은 고딕"/>
              </a:defRPr>
            </a:pPr>
            <a:r>
              <a:t>10~18%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371600"/>
            <a:ext cx="2011680" cy="1828800"/>
          </a:xfrm>
          <a:prstGeom prst="round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508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맑은 고딕"/>
              </a:defRPr>
            </a:pPr>
            <a:r>
              <a:t>DL</a:t>
            </a:r>
            <a:br/>
            <a:r>
              <a:t>(LSTM/GRU)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A8A"/>
                </a:solidFill>
                <a:latin typeface="맑은 고딕"/>
              </a:defRPr>
            </a:pPr>
            <a:r>
              <a:t>nRMSE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8ED1"/>
                </a:solidFill>
                <a:latin typeface="맑은 고딕"/>
              </a:defRPr>
            </a:pPr>
            <a:r>
              <a:t>8~15%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371600"/>
            <a:ext cx="2011680" cy="182880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69480" y="1371600"/>
            <a:ext cx="2011680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508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맑은 고딕"/>
              </a:defRPr>
            </a:pPr>
            <a:r>
              <a:t>베이지안</a:t>
            </a:r>
            <a:br/>
            <a:r>
              <a:t>+GRU (제안)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A8A"/>
                </a:solidFill>
                <a:latin typeface="맑은 고딕"/>
              </a:defRPr>
            </a:pPr>
            <a:r>
              <a:t>nRMSE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A5E"/>
                </a:solidFill>
                <a:latin typeface="맑은 고딕"/>
              </a:defRPr>
            </a:pPr>
            <a:r>
              <a:t>7~12%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371600"/>
            <a:ext cx="2011680" cy="1828800"/>
          </a:xfrm>
          <a:prstGeom prst="round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1508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2C2C"/>
                </a:solidFill>
                <a:latin typeface="맑은 고딕"/>
              </a:defRPr>
            </a:pPr>
            <a:r>
              <a:t>위성</a:t>
            </a:r>
            <a:br/>
            <a:r>
              <a:t>Nowcast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A8A8A"/>
                </a:solidFill>
                <a:latin typeface="맑은 고딕"/>
              </a:defRPr>
            </a:pPr>
            <a:r>
              <a:t>nRMSE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D4A1"/>
                </a:solidFill>
                <a:latin typeface="맑은 고딕"/>
              </a:defRPr>
            </a:pPr>
            <a:r>
              <a:t>5~10%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474720"/>
            <a:ext cx="10698480" cy="731520"/>
          </a:xfrm>
          <a:prstGeom prst="roundRect">
            <a:avLst/>
          </a:prstGeom>
          <a:solidFill>
            <a:srgbClr val="FFF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3566160"/>
            <a:ext cx="9784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맑은 고딕"/>
              </a:defRPr>
            </a:pPr>
            <a:r>
              <a:t>MVP 전략:  검증된 ML(XGBoost/LSTM)로 시작  →  데이터 축적 후 베이지안+GRU 확장</a:t>
            </a:r>
            <a:br/>
            <a:r>
              <a:t>전제 조건:  남동발전 기존 예측보다 정확하지 않으면 가치 없음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480560"/>
            <a:ext cx="5029200" cy="192024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4480560"/>
            <a:ext cx="5029200" cy="4572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663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5E"/>
                </a:solidFill>
                <a:latin typeface="맑은 고딕"/>
              </a:defRPr>
            </a:pPr>
            <a:r>
              <a:t>1단계: 베이지안 계층모형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029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지역별 기상 민감도 + 시간/계절 구조 posterior 추정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27608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부분풀링 → 데이터 적은 사이트도 안정 추정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52297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베타 회귀 + Fourier basis expansion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76986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출력: baseline 예측 + 잔차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480560"/>
            <a:ext cx="5029200" cy="1920240"/>
          </a:xfrm>
          <a:prstGeom prst="round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480560"/>
            <a:ext cx="5029200" cy="45720"/>
          </a:xfrm>
          <a:prstGeom prst="rect">
            <a:avLst/>
          </a:prstGeom>
          <a:solidFill>
            <a:srgbClr val="38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663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ED1"/>
                </a:solidFill>
                <a:latin typeface="맑은 고딕"/>
              </a:defRPr>
            </a:pPr>
            <a:r>
              <a:t>2단계: FiLM-조건부 GRU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29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구름 급변, NWP 오차, ramp event 비선형 패턴 학습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27608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1단계 posterior 요약 → FiLM 조건벡터 주입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52297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같은 backbone이 지역별로 다르게 동작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76986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Direct multi-horizon 출력 (1~24시간)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3D2E"/>
                </a:solidFill>
                <a:latin typeface="맑은 고딕"/>
              </a:defRPr>
            </a:pPr>
            <a:r>
              <a:t>화력 대응 계획 생성 — 핵심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743200" cy="27432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5E"/>
                </a:solidFill>
                <a:latin typeface="맑은 고딕"/>
              </a:defRPr>
            </a:pPr>
            <a:r>
              <a:t>태양광 예측이 입력  →  나오는 결과는 "발전기별로 몇 시에 무슨 행동을 하라"는 액션 플랜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2011680" cy="137160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2011680" cy="45720"/>
          </a:xfrm>
          <a:prstGeom prst="rect">
            <a:avLst/>
          </a:prstGeom>
          <a:solidFill>
            <a:srgbClr val="E88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8D2A"/>
                </a:solidFill>
                <a:latin typeface="맑은 고딕"/>
              </a:defRPr>
            </a:pPr>
            <a:r>
              <a:t>태양광</a:t>
            </a:r>
            <a:br/>
            <a:r>
              <a:t>예측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5A5A"/>
                </a:solidFill>
                <a:latin typeface="맑은 고딕"/>
              </a:defRPr>
            </a:pPr>
            <a:r>
              <a:t>내일 시간대별</a:t>
            </a:r>
            <a:br/>
            <a:r>
              <a:t>발전량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A67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1645920"/>
            <a:ext cx="2011680" cy="137160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645920"/>
            <a:ext cx="2011680" cy="45720"/>
          </a:xfrm>
          <a:prstGeom prst="rect">
            <a:avLst/>
          </a:prstGeom>
          <a:solidFill>
            <a:srgbClr val="38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1737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88ED1"/>
                </a:solidFill>
                <a:latin typeface="맑은 고딕"/>
              </a:defRPr>
            </a:pPr>
            <a:r>
              <a:t>갭</a:t>
            </a:r>
            <a:br/>
            <a:r>
              <a:t>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331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5A5A"/>
                </a:solidFill>
                <a:latin typeface="맑은 고딕"/>
              </a:defRPr>
            </a:pPr>
            <a:r>
              <a:t>수요-태양광</a:t>
            </a:r>
            <a:br/>
            <a:r>
              <a:t>-고정화력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A67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645920"/>
            <a:ext cx="2011680" cy="137160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645920"/>
            <a:ext cx="2011680" cy="4572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737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7A5E"/>
                </a:solidFill>
                <a:latin typeface="맑은 고딕"/>
              </a:defRPr>
            </a:pPr>
            <a:r>
              <a:t>UC</a:t>
            </a:r>
            <a:br/>
            <a:r>
              <a:t>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331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5A5A"/>
                </a:solidFill>
                <a:latin typeface="맑은 고딕"/>
              </a:defRPr>
            </a:pPr>
            <a:r>
              <a:t>MILP 24시간</a:t>
            </a:r>
            <a:br/>
            <a:r>
              <a:t>최적 조합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A67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645920"/>
            <a:ext cx="2011680" cy="137160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1645920"/>
            <a:ext cx="2011680" cy="45720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1737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A67E"/>
                </a:solidFill>
                <a:latin typeface="맑은 고딕"/>
              </a:defRPr>
            </a:pPr>
            <a:r>
              <a:t>역산</a:t>
            </a:r>
            <a:br/>
            <a:r>
              <a:t>타이밍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331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5A5A"/>
                </a:solidFill>
                <a:latin typeface="맑은 고딕"/>
              </a:defRPr>
            </a:pPr>
            <a:r>
              <a:t>발전기별</a:t>
            </a:r>
            <a:br/>
            <a:r>
              <a:t>"몇시에 몇MW"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0116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A67E"/>
                </a:solidFill>
                <a:latin typeface="맑은 고딕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645920"/>
            <a:ext cx="2011680" cy="137160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200" y="1645920"/>
            <a:ext cx="2011680" cy="4572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7373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3D2E"/>
                </a:solidFill>
                <a:latin typeface="맑은 고딕"/>
              </a:defRPr>
            </a:pPr>
            <a:r>
              <a:t>액션</a:t>
            </a:r>
            <a:br/>
            <a:r>
              <a:t>플랜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23317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5A5A"/>
                </a:solidFill>
                <a:latin typeface="맑은 고딕"/>
              </a:defRPr>
            </a:pPr>
            <a:r>
              <a:t>운영자용</a:t>
            </a:r>
            <a:br/>
            <a:r>
              <a:t>타임라인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3291840"/>
            <a:ext cx="10698480" cy="3200400"/>
          </a:xfrm>
          <a:prstGeom prst="round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D2E"/>
                </a:solidFill>
                <a:latin typeface="맑은 고딕"/>
              </a:defRPr>
            </a:pPr>
            <a:r>
              <a:t>액션 플랜 출력 예시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5E"/>
                </a:solidFill>
                <a:latin typeface="맑은 고딕"/>
              </a:defRPr>
            </a:pPr>
            <a:r>
              <a:t>시간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5E"/>
                </a:solidFill>
                <a:latin typeface="맑은 고딕"/>
              </a:defRPr>
            </a:pPr>
            <a:r>
              <a:t>발전기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5E"/>
                </a:solidFill>
                <a:latin typeface="맑은 고딕"/>
              </a:defRPr>
            </a:pPr>
            <a:r>
              <a:t>액션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5E"/>
                </a:solidFill>
                <a:latin typeface="맑은 고딕"/>
              </a:defRPr>
            </a:pPr>
            <a:r>
              <a:t>목표 출력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069079"/>
            <a:ext cx="1024128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408736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12:37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08736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영흥 1호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408736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8D2A"/>
                </a:solidFill>
                <a:latin typeface="맑은 고딕"/>
              </a:defRPr>
            </a:pPr>
            <a:r>
              <a:t>출력 증가 시작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08736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520 → 700MW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4416551"/>
            <a:ext cx="10241280" cy="32004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44348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13:00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44348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영흥 1호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44348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A67E"/>
                </a:solidFill>
                <a:latin typeface="맑은 고딕"/>
              </a:defRPr>
            </a:pPr>
            <a:r>
              <a:t>700MW 도달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4348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700MW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4764022"/>
            <a:ext cx="1024128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7280" y="478231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13:30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478231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영흥 4호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78231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8D2A"/>
                </a:solidFill>
                <a:latin typeface="맑은 고딕"/>
              </a:defRPr>
            </a:pPr>
            <a:r>
              <a:t>출력 증가 시작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478231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520 → 870MW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" y="5111495"/>
            <a:ext cx="10241280" cy="32004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7280" y="512978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14:00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66160" y="512978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분당 1호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35040" y="512978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8D2A"/>
                </a:solidFill>
                <a:latin typeface="맑은 고딕"/>
              </a:defRPr>
            </a:pPr>
            <a:r>
              <a:t>기동 준비 시작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512978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(정지 → 기동)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4400" y="5458967"/>
            <a:ext cx="1024128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7280" y="547725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14:23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66160" y="547725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영흥 4호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35040" y="547725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A67E"/>
                </a:solidFill>
                <a:latin typeface="맑은 고딕"/>
              </a:defRPr>
            </a:pPr>
            <a:r>
              <a:t>870MW 도달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03920" y="5477255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870MW (최대)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" y="5806439"/>
            <a:ext cx="10241280" cy="320040"/>
          </a:xfrm>
          <a:prstGeom prst="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97280" y="58247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14:45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66160" y="58247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분당 1호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58247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A67E"/>
                </a:solidFill>
                <a:latin typeface="맑은 고딕"/>
              </a:defRPr>
            </a:pPr>
            <a:r>
              <a:t>최소출력 도달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03920" y="58247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221MW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4400" y="6153911"/>
            <a:ext cx="10241280" cy="320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97280" y="61721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15:06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66160" y="61721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분당 1호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35040" y="61721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A67E"/>
                </a:solidFill>
                <a:latin typeface="맑은 고딕"/>
              </a:defRPr>
            </a:pPr>
            <a:r>
              <a:t>400MW 도달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503920" y="61721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2C2C"/>
                </a:solidFill>
                <a:latin typeface="맑은 고딕"/>
              </a:defRPr>
            </a:pPr>
            <a:r>
              <a:t>400MW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14400" y="6263640"/>
            <a:ext cx="10241280" cy="32004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188720" y="6281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A5E"/>
                </a:solidFill>
                <a:latin typeface="맑은 고딕"/>
              </a:defRPr>
            </a:pPr>
            <a:r>
              <a:t>추가 연료비: ~X억원  |  예비력 최소: 15시 350MW  |  ESG: 영흥 NOx +12%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3D2E"/>
                </a:solidFill>
                <a:latin typeface="맑은 고딕"/>
              </a:defRPr>
            </a:pPr>
            <a:r>
              <a:t>시나리오 비교 — 운영자 의사결정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743200" cy="27432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D2E"/>
                </a:solidFill>
                <a:latin typeface="맑은 고딕"/>
              </a:defRPr>
            </a:pPr>
            <a:r>
              <a:t>시나리오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D2E"/>
                </a:solidFill>
                <a:latin typeface="맑은 고딕"/>
              </a:defRPr>
            </a:pPr>
            <a:r>
              <a:t>태양광 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D2E"/>
                </a:solidFill>
                <a:latin typeface="맑은 고딕"/>
              </a:defRPr>
            </a:pPr>
            <a:r>
              <a:t>추가 기동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D2E"/>
                </a:solidFill>
                <a:latin typeface="맑은 고딕"/>
              </a:defRPr>
            </a:pPr>
            <a:r>
              <a:t>연료비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D2E"/>
                </a:solidFill>
                <a:latin typeface="맑은 고딕"/>
              </a:defRPr>
            </a:pPr>
            <a:r>
              <a:t>예비력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4630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3D2E"/>
                </a:solidFill>
                <a:latin typeface="맑은 고딕"/>
              </a:defRPr>
            </a:pPr>
            <a:r>
              <a:t>대응 실패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74520"/>
            <a:ext cx="11064240" cy="54864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874520"/>
            <a:ext cx="54864" cy="548640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67E"/>
                </a:solidFill>
                <a:latin typeface="맑은 고딕"/>
              </a:defRPr>
            </a:pPr>
            <a:r>
              <a:t>낙관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예측 +10%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기본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충분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514600"/>
            <a:ext cx="11064240" cy="548640"/>
          </a:xfrm>
          <a:prstGeom prst="round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514600"/>
            <a:ext cx="54864" cy="548640"/>
          </a:xfrm>
          <a:prstGeom prst="rect">
            <a:avLst/>
          </a:prstGeom>
          <a:solidFill>
            <a:srgbClr val="38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2578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8ED1"/>
                </a:solidFill>
                <a:latin typeface="맑은 고딕"/>
              </a:defRPr>
            </a:pPr>
            <a:r>
              <a:t>중립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2578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예측 그대로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578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영흥1호 증가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578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+2.1억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578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충분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5786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154679"/>
            <a:ext cx="11064240" cy="548640"/>
          </a:xfrm>
          <a:prstGeom prst="roundRect">
            <a:avLst/>
          </a:prstGeom>
          <a:solidFill>
            <a:srgbClr val="FFF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154679"/>
            <a:ext cx="54864" cy="548640"/>
          </a:xfrm>
          <a:prstGeom prst="rect">
            <a:avLst/>
          </a:prstGeom>
          <a:solidFill>
            <a:srgbClr val="E88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2186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8D2A"/>
                </a:solidFill>
                <a:latin typeface="맑은 고딕"/>
              </a:defRPr>
            </a:pPr>
            <a:r>
              <a:t>비관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32186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예측 -30%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32186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영흥1,4호+분당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2186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+5.8억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2186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주의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21868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없음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794760"/>
            <a:ext cx="11064240" cy="54864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794760"/>
            <a:ext cx="54864" cy="548640"/>
          </a:xfrm>
          <a:prstGeom prst="rect">
            <a:avLst/>
          </a:prstGeom>
          <a:solidFill>
            <a:srgbClr val="D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85876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C3A3A"/>
                </a:solidFill>
                <a:latin typeface="맑은 고딕"/>
              </a:defRPr>
            </a:pPr>
            <a:r>
              <a:t>급변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385876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14시 50% 감소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385876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분당 즉시 기동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85876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2C2C"/>
                </a:solidFill>
                <a:latin typeface="맑은 고딕"/>
              </a:defRPr>
            </a:pPr>
            <a:r>
              <a:t>+7.2억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85876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3A3A"/>
                </a:solidFill>
                <a:latin typeface="맑은 고딕"/>
              </a:defRPr>
            </a:pPr>
            <a:r>
              <a:t>위험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385876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C3A3A"/>
                </a:solidFill>
                <a:latin typeface="맑은 고딕"/>
              </a:defRPr>
            </a:pPr>
            <a:r>
              <a:t>지연 가능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88720" y="45262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D4A1"/>
                </a:solidFill>
                <a:latin typeface="맑은 고딕"/>
              </a:defRPr>
            </a:pPr>
            <a:r>
              <a:t>운영자 의사결정 포인트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489204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E5D9"/>
                </a:solidFill>
                <a:latin typeface="맑은 고딕"/>
              </a:defRPr>
            </a:pPr>
            <a:r>
              <a:t>"비관 시나리오 대비 시 연료비 3.7억 더 들지만, 급전 대응 실패 리스크 0.</a:t>
            </a:r>
            <a:br/>
            <a:r>
              <a:t> 오늘 날씨가 불확실하니 비관으로 간다."</a:t>
            </a:r>
            <a:br/>
            <a:br/>
            <a:r>
              <a:t>시스템은 추천하고, 사람이 최종 판단한다.</a:t>
            </a:r>
            <a:br/>
            <a:r>
              <a:t>비용 / 예비력 / ESG 영향을 한 화면에서 비교할 수 있게 하는 것이 대시보드의 핵심 가치.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3D2E"/>
                </a:solidFill>
                <a:latin typeface="맑은 고딕"/>
              </a:defRPr>
            </a:pPr>
            <a:r>
              <a:t>화력 발전기 운전 제약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743200" cy="27432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파라미터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371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영흥 (석탄)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371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삼천포 (석탄)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371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분당 (LNG)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3716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5E"/>
                </a:solidFill>
                <a:latin typeface="맑은 고딕"/>
              </a:defRPr>
            </a:pPr>
            <a: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737360"/>
            <a:ext cx="11247120" cy="384048"/>
          </a:xfrm>
          <a:prstGeom prst="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55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정격출력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755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870MW/호기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755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560MW/호기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755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460MW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7556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최대 출력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148840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67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최소출력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167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520MW (60%)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167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336MW (60%)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167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221MW (48%)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167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이하로 못 내림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560320"/>
            <a:ext cx="11247120" cy="384048"/>
          </a:xfrm>
          <a:prstGeom prst="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램프업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~15MW/분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~10MW/분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~30MW/분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분당 증가 한계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971800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990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최소기동시간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2990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12시간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2990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12시간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2990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4시간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990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켜면 최소 유지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11247120" cy="384048"/>
          </a:xfrm>
          <a:prstGeom prst="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401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최소정지시간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3401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8시간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401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8시간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3401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2시간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40156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끄면 최소 유지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3794760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813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Cold 기동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3813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16시간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3813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16시간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3813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6시간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813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완전 정지 후 재가동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206240"/>
            <a:ext cx="11247120" cy="384048"/>
          </a:xfrm>
          <a:prstGeom prst="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기동비용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~3억원/회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~2억원/회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~5천만원/회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1회 기동 비용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617720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636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변동비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4636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~80원/kWh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20640" y="4636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~80원/kWh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4636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8D2A"/>
                </a:solidFill>
                <a:latin typeface="맑은 고딕"/>
              </a:defRPr>
            </a:pPr>
            <a:r>
              <a:t>~160원/kWh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46360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연료비 기반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51663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D4A1"/>
                </a:solidFill>
                <a:latin typeface="맑은 고딕"/>
              </a:defRPr>
            </a:pPr>
            <a:r>
              <a:t>핵심 Trade-off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20" y="548640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E5D9"/>
                </a:solidFill>
                <a:latin typeface="맑은 고딕"/>
              </a:defRPr>
            </a:pPr>
            <a:r>
              <a:t>석탄 = 싸지만 느리다  (램프 15MW/분, Cold 기동 16시간)</a:t>
            </a:r>
            <a:br/>
            <a:r>
              <a:t>LNG = 비싸지만 빠르다  (램프 30MW/분, Cold 기동 6시간, 변동비 2배)</a:t>
            </a:r>
            <a:br/>
            <a:br/>
            <a:r>
              <a:t>→ 태양광 급변 대비에 LNG가 유리하지만 비용 2배. 이 균형을 최적화하는 것이 UC의 역할.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3D2E"/>
                </a:solidFill>
                <a:latin typeface="맑은 고딕"/>
              </a:defRPr>
            </a:pPr>
            <a:r>
              <a:t>남동발전 발전 포트폴리오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743200" cy="27432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3200400"/>
          </a:xfrm>
          <a:prstGeom prst="round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291840" cy="4572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A8A8A"/>
                </a:solidFill>
                <a:latin typeface="맑은 고딕"/>
              </a:defRPr>
            </a:pPr>
            <a:r>
              <a:t>고정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건드릴 수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필수운전 + 최소출력 구간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054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합계: ~6,387MW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영흥: 최소 3,048MW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삼천포: 최소 1,248MW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강릉: 최소 1,248MW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844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분당: 최소 442MW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313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여수: 최소 401MW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371600"/>
            <a:ext cx="3291840" cy="3200400"/>
          </a:xfrm>
          <a:prstGeom prst="roundRect">
            <a:avLst/>
          </a:prstGeom>
          <a:solidFill>
            <a:srgbClr val="FFF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1371600"/>
            <a:ext cx="3291840" cy="45720"/>
          </a:xfrm>
          <a:prstGeom prst="rect">
            <a:avLst/>
          </a:prstGeom>
          <a:solidFill>
            <a:srgbClr val="E88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8D2A"/>
                </a:solidFill>
                <a:latin typeface="맑은 고딕"/>
              </a:defRPr>
            </a:pPr>
            <a:r>
              <a:t>예측 영역 (변동)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예측이 핵심 가치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태양광: 20+ 사이트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5054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→ 변동성 큼, 예측 대상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풍력: 영흥, 군위 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090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→ 변동성 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429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연료전지: 비교적 안정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675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해양소수력: 소규모, 안정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371600"/>
            <a:ext cx="3291840" cy="320040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1371600"/>
            <a:ext cx="3291840" cy="4572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5E"/>
                </a:solidFill>
                <a:latin typeface="맑은 고딕"/>
              </a:defRPr>
            </a:pPr>
            <a:r>
              <a:t>최적화 영역 (조정 가능)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이 영역이 최적화 대상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최소출력 ~ 최대출력 사이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5054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조정 가능: ~4,442MW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영흥: +2,032MW 여유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090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삼천포: +832MW 여유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분당: +478MW 여유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6758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대기 발전기 기동/정지 결정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5029200"/>
            <a:ext cx="9784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맑은 고딕"/>
              </a:defRPr>
            </a:pPr>
            <a:r>
              <a:t>전체 공급  =  고정 영역 (~6,387MW)  +  태양광 예측 (변동)  +  최적화 영역 (0 ~ 4,442MW)</a:t>
            </a:r>
            <a:br/>
            <a:br/>
            <a:r>
              <a:t>태양광이 많이 나오면 → 최적화 영역을 줄임 (연료비 절감)</a:t>
            </a:r>
            <a:br/>
            <a:r>
              <a:t>태양광이 적게 나오면 → 최적화 영역을 올림 (수요 충족)</a:t>
            </a:r>
            <a:br/>
            <a:r>
              <a:t>태양광이 예측보다 적으면 → 실시간으로 최적화 영역을 올림 (사후 대응)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3D2E"/>
                </a:solidFill>
                <a:latin typeface="맑은 고딕"/>
              </a:defRPr>
            </a:pPr>
            <a:r>
              <a:t>ESG: 하이퍼로컬 대기질 영향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743200" cy="27432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2560320"/>
          </a:xfrm>
          <a:prstGeom prst="roundRect">
            <a:avLst/>
          </a:prstGeom>
          <a:solidFill>
            <a:srgbClr val="FFF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291840" cy="45720"/>
          </a:xfrm>
          <a:prstGeom prst="rect">
            <a:avLst/>
          </a:prstGeom>
          <a:solidFill>
            <a:srgbClr val="E88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8D2A"/>
                </a:solidFill>
                <a:latin typeface="맑은 고딕"/>
              </a:defRPr>
            </a:pPr>
            <a:r>
              <a:t>배출량 추정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화력 출력 × 배출계수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= SOx, NOx, PM 배출량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968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데이터: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남동발전 대기오염물질 배출실적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90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발전기별 배출계수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71600"/>
            <a:ext cx="3291840" cy="2560320"/>
          </a:xfrm>
          <a:prstGeom prst="round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371600"/>
            <a:ext cx="3291840" cy="45720"/>
          </a:xfrm>
          <a:prstGeom prst="rect">
            <a:avLst/>
          </a:prstGeom>
          <a:solidFill>
            <a:srgbClr val="38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ED1"/>
                </a:solidFill>
                <a:latin typeface="맑은 고딕"/>
              </a:defRPr>
            </a:pPr>
            <a:r>
              <a:t>확산 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풍속, 풍향, 대기안정도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→ 가우시안 확산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50545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→ 시간대별 영향권 계산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데이터: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090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발전소 기상정보 (풍향/풍속)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1371600"/>
            <a:ext cx="3291840" cy="256032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1371600"/>
            <a:ext cx="3291840" cy="4572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5E"/>
                </a:solidFill>
                <a:latin typeface="맑은 고딕"/>
              </a:defRPr>
            </a:pPr>
            <a:r>
              <a:t>지도 시각화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영향권 오버레이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25856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민감지역 표시 (주거지, 학교)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5968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시나리오 A vs B: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843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"석탄 증가 → NOx +12%"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0906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"LNG 기동 → NOx +3%"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297680"/>
            <a:ext cx="10698480" cy="2103120"/>
          </a:xfrm>
          <a:prstGeom prst="round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43484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D4A1"/>
                </a:solidFill>
                <a:latin typeface="맑은 고딕"/>
              </a:defRPr>
            </a:pPr>
            <a:r>
              <a:t>ESG 가치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4800600"/>
            <a:ext cx="9784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E5D9"/>
                </a:solidFill>
                <a:latin typeface="맑은 고딕"/>
              </a:defRPr>
            </a:pPr>
            <a:r>
              <a:t>화력 가동을 늘릴 때의 환경 영향을 사전에 정량화</a:t>
            </a:r>
            <a:br/>
            <a:br/>
            <a:r>
              <a:t>운영자가 "석탄을 더 돌릴까, LNG를 돌릴까" 판단할 때,</a:t>
            </a:r>
            <a:br/>
            <a:r>
              <a:t>비용뿐 아니라 "영흥 주변 주거지역 NOx +12%  vs  분당 주변 +3%"를 함께 보여줌</a:t>
            </a:r>
            <a:br/>
            <a:br/>
            <a:r>
              <a:t>→ ESG 보고서에 정량적 근거 제공  /  지자체·주민 소통 자료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457200"/>
            <a:ext cx="502920" cy="502920"/>
          </a:xfrm>
          <a:prstGeom prst="ellipse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B3D2E"/>
                </a:solidFill>
                <a:latin typeface="맑은 고딕"/>
              </a:defRPr>
            </a:pPr>
            <a:r>
              <a:t>MVP 범위 &amp;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2743200" cy="27432"/>
          </a:xfrm>
          <a:prstGeom prst="rect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029200" cy="3017520"/>
          </a:xfrm>
          <a:prstGeom prst="round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5E"/>
                </a:solidFill>
                <a:latin typeface="맑은 고딕"/>
              </a:defRPr>
            </a:pPr>
            <a:r>
              <a:t>✅  MVP (Phase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1. 태양광 하루전 예측 (ML 모델)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585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2. 화력 출력 여유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0545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3. 태양광 + 화력 겹쳐보기 시각화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5234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4. UC 기반 대응 계획 (액션 플랜)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99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5. 시나리오 비교 (낙관/중립/비관)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6. 가용용량 신고안 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9300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7. 기본 운영 대시보드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398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8. 대기질 영향 지도 (기본)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029200" cy="3017520"/>
          </a:xfrm>
          <a:prstGeom prst="roundRect">
            <a:avLst/>
          </a:prstGeom>
          <a:solidFill>
            <a:srgbClr val="EA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5029200" cy="45720"/>
          </a:xfrm>
          <a:prstGeom prst="rect">
            <a:avLst/>
          </a:prstGeom>
          <a:solidFill>
            <a:srgbClr val="38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ED1"/>
                </a:solidFill>
                <a:latin typeface="맑은 고딕"/>
              </a:defRPr>
            </a:pPr>
            <a:r>
              <a:t>🔜  Phase 2 (이후)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1. 실시간 감시 &amp; 대응 모드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585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2. 위성 기반 초단기 예측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50545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3. 베이지안+GRU 고급 모델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75234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4. 풍력 정밀 예측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999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5. ESS 충방전 최적화 연계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375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제외 항목: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844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KPX 자동 제출 / 송전망 제약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83133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2C2C"/>
                </a:solidFill>
                <a:latin typeface="맑은 고딕"/>
              </a:defRPr>
            </a:pPr>
            <a:r>
              <a:t>  발전기 자동 제어 (사람이 판단)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754880"/>
            <a:ext cx="10698480" cy="1645920"/>
          </a:xfrm>
          <a:prstGeom prst="roundRect">
            <a:avLst/>
          </a:prstGeom>
          <a:solidFill>
            <a:srgbClr val="F5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846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3D2E"/>
                </a:solidFill>
                <a:latin typeface="맑은 고딕"/>
              </a:defRPr>
            </a:pPr>
            <a:r>
              <a:t>핵심 성공 지표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25780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7280" y="5257800"/>
            <a:ext cx="2286000" cy="45720"/>
          </a:xfrm>
          <a:prstGeom prst="rect">
            <a:avLst/>
          </a:prstGeom>
          <a:solidFill>
            <a:srgbClr val="007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A5E"/>
                </a:solidFill>
                <a:latin typeface="맑은 고딕"/>
              </a:defRPr>
            </a:pPr>
            <a:r>
              <a:t>예측 정확도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  <a:latin typeface="맑은 고딕"/>
              </a:defRPr>
            </a:pPr>
            <a:r>
              <a:t>nRMSE 10% 이내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525780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5257800"/>
            <a:ext cx="2286000" cy="45720"/>
          </a:xfrm>
          <a:prstGeom prst="rect">
            <a:avLst/>
          </a:prstGeom>
          <a:solidFill>
            <a:srgbClr val="388E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8ED1"/>
                </a:solidFill>
                <a:latin typeface="맑은 고딕"/>
              </a:defRPr>
            </a:pPr>
            <a:r>
              <a:t>급변 탐지율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  <a:latin typeface="맑은 고딕"/>
              </a:defRPr>
            </a:pPr>
            <a:r>
              <a:t>80% 이상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25780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17920" y="5257800"/>
            <a:ext cx="2286000" cy="45720"/>
          </a:xfrm>
          <a:prstGeom prst="rect">
            <a:avLst/>
          </a:prstGeom>
          <a:solidFill>
            <a:srgbClr val="DC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C3A3A"/>
                </a:solidFill>
                <a:latin typeface="맑은 고딕"/>
              </a:defRPr>
            </a:pPr>
            <a:r>
              <a:t>대응 실패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  <a:latin typeface="맑은 고딕"/>
              </a:defRPr>
            </a:pPr>
            <a:r>
              <a:t>0건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78239" y="5257800"/>
            <a:ext cx="228600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78239" y="5257800"/>
            <a:ext cx="2286000" cy="45720"/>
          </a:xfrm>
          <a:prstGeom prst="rect">
            <a:avLst/>
          </a:prstGeom>
          <a:solidFill>
            <a:srgbClr val="E88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39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8D2A"/>
                </a:solidFill>
                <a:latin typeface="맑은 고딕"/>
              </a:defRPr>
            </a:pPr>
            <a:r>
              <a:t>연료비 절감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39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C2C2C"/>
                </a:solidFill>
                <a:latin typeface="맑은 고딕"/>
              </a:defRPr>
            </a:pPr>
            <a:r>
              <a:t>불필요 가동 감소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029200"/>
            <a:ext cx="2743200" cy="2743200"/>
          </a:xfrm>
          <a:prstGeom prst="ellipse">
            <a:avLst/>
          </a:prstGeom>
          <a:solidFill>
            <a:srgbClr val="0D4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ED4A1"/>
                </a:solidFill>
                <a:latin typeface="맑은 고딕"/>
              </a:defRPr>
            </a:pPr>
            <a:r>
              <a:t>One-line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태양광 변동성을</a:t>
            </a:r>
            <a:br/>
            <a:r>
              <a:t>정밀 예측하고,</a:t>
            </a:r>
            <a:br/>
            <a:r>
              <a:t>화력에게 미리</a:t>
            </a:r>
            <a:br/>
            <a:r>
              <a:t>정확한 지시를 내린다.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3D2E"/>
                </a:solidFill>
                <a:latin typeface="맑은 고딕"/>
              </a:defRPr>
            </a:pPr>
            <a:r>
              <a:t>플랫폼이 답하는 질문</a:t>
            </a:r>
          </a:p>
        </p:txBody>
      </p:sp>
      <p:sp>
        <p:nvSpPr>
          <p:cNvPr id="7" name="Oval 6"/>
          <p:cNvSpPr/>
          <p:nvPr/>
        </p:nvSpPr>
        <p:spPr>
          <a:xfrm>
            <a:off x="5943600" y="2633472"/>
            <a:ext cx="137160" cy="137160"/>
          </a:xfrm>
          <a:prstGeom prst="ellipse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맑은 고딕"/>
              </a:defRPr>
            </a:pPr>
            <a:r>
              <a:t>내일 태양광이 얼마나 나올까?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3136392"/>
            <a:ext cx="137160" cy="137160"/>
          </a:xfrm>
          <a:prstGeom prst="ellipse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맑은 고딕"/>
              </a:defRPr>
            </a:pPr>
            <a:r>
              <a:t>급변하면 어떤 화력을 언제 올릴까?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3639312"/>
            <a:ext cx="137160" cy="137160"/>
          </a:xfrm>
          <a:prstGeom prst="ellipse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맑은 고딕"/>
              </a:defRPr>
            </a:pPr>
            <a:r>
              <a:t>화력을 줄일 수 있는 시점은 언제인가?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0" y="4142232"/>
            <a:ext cx="137160" cy="137160"/>
          </a:xfrm>
          <a:prstGeom prst="ellipse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맑은 고딕"/>
              </a:defRPr>
            </a:pPr>
            <a:r>
              <a:t>각 선택이 환경에 어떤 영향을 주는가?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4645152"/>
            <a:ext cx="137160" cy="137160"/>
          </a:xfrm>
          <a:prstGeom prst="ellipse">
            <a:avLst/>
          </a:prstGeom>
          <a:solidFill>
            <a:srgbClr val="00A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2C2C"/>
                </a:solidFill>
                <a:latin typeface="맑은 고딕"/>
              </a:defRPr>
            </a:pPr>
            <a:r>
              <a:t>지금 예측이 빗나가고 있진 않은가?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5669280"/>
            <a:ext cx="2743200" cy="457200"/>
          </a:xfrm>
          <a:prstGeom prst="rect">
            <a:avLst/>
          </a:prstGeom>
          <a:solidFill>
            <a:srgbClr val="E8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5715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5E"/>
                </a:solidFill>
                <a:latin typeface="맑은 고딕"/>
              </a:defRPr>
            </a:pPr>
            <a:r>
              <a:t>  PRD v4  ·  2026.04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