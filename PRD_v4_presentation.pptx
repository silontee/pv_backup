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96C7"/>
                </a:solidFill>
                <a:latin typeface="맑은 고딕"/>
              </a:defRPr>
            </a:pPr>
            <a:r>
              <a:t>한국남동발전 내부 의사결정 지원 플랫폼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태양광 변동성 대비</a:t>
            </a:r>
            <a:br/>
            <a:r>
              <a:t>화력 백업 최적화 플랫폼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999999"/>
                </a:solidFill>
                <a:latin typeface="맑은 고딕"/>
              </a:defRPr>
            </a:pPr>
            <a:r>
              <a:t>예측 → 대응 계획 → 실시간 보정까지 일관된 운영 지원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맑은 고딕"/>
              </a:defRPr>
            </a:pPr>
            <a:r>
              <a:t>PRD v4  |  2026.04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01  왜 이 플랫폼이 필요한가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45720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291840" cy="256032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3291840" cy="54864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600"/>
                </a:solidFill>
                <a:latin typeface="맑은 고딕"/>
              </a:defRPr>
            </a:pPr>
            <a:r>
              <a:t>태양광: 무조건 최대 발전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변동비 0원 → Merit Order 최우선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042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나오는 만큼 다 쓰고, 전량 입찰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9689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발전사에게 선택의 여지 없음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88950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1005840" y="318211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BUT: 내일 얼마 나올지 모른다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474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예측 오차 10~30%, 급변 시 50%+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371600"/>
            <a:ext cx="3291840" cy="256032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371600"/>
            <a:ext cx="3291840" cy="54864"/>
          </a:xfrm>
          <a:prstGeom prst="rect">
            <a:avLst/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1554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77F00"/>
                </a:solidFill>
                <a:latin typeface="맑은 고딕"/>
              </a:defRPr>
            </a:pPr>
            <a:r>
              <a:t>화력: 이미 돌아가고 있다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011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최소출력 합계 ~6,387MW가 24시간 가동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3042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석탄 최소출력: 정격의 60%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59689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LNG 최소출력: 정격의 48%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88950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4663440" y="318211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출력 정밀도: ±1~3% (정확함)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3474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BUT: 미리 준비해야 한다 (느림)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1371600"/>
            <a:ext cx="3291840" cy="256032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6720" y="1371600"/>
            <a:ext cx="3291840" cy="54864"/>
          </a:xfrm>
          <a:prstGeom prst="rect">
            <a:avLst/>
          </a:prstGeom>
          <a:solidFill>
            <a:srgbClr val="F5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1554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365C"/>
                </a:solidFill>
                <a:latin typeface="맑은 고딕"/>
              </a:defRPr>
            </a:pPr>
            <a:r>
              <a:t>충돌: 불확실 × 느림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011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태양광 급감 → 화력 올려야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23042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  → 석탄 램프업: 9~26MW/분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259689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  → Cold 기동: 12~24시간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288950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8321040" y="318211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태양광 과잉 → 화력 내려야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3474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  → 최소출력 이하로 못 내림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37673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  → 끄면 재기동 수 시간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4389120"/>
            <a:ext cx="10698480" cy="182880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88720" y="4526280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C7"/>
                </a:solidFill>
                <a:latin typeface="맑은 고딕"/>
              </a:defRPr>
            </a:pPr>
            <a:r>
              <a:t>핵심 문제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" y="4937760"/>
            <a:ext cx="9784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맑은 고딕"/>
              </a:defRPr>
            </a:pPr>
            <a:r>
              <a:t>태양광은 "내일 얼마 나올지 모르겠다" (불확실)</a:t>
            </a:r>
            <a:br/>
            <a:r>
              <a:t>화력은 "얼마를 내라고 하면 정확하게 내지만, 미리 말해줘야 한다" (정확하지만 느림)</a:t>
            </a:r>
            <a:br/>
            <a:br/>
            <a:r>
              <a:t>→ 태양광 예측을 잘 해서, 화력에게 미리 정확한 지시를 내리는 것이 핵심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02  현행 제도와 경쟁 환경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45720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228600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029200" cy="54864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C7"/>
                </a:solidFill>
                <a:latin typeface="맑은 고딕"/>
              </a:defRPr>
            </a:pPr>
            <a:r>
              <a:t>한국 전력시장 (CBP) 입찰 프로세스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D-1일 10:00  1차 예측 &amp; 가용용량 신고 제출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04288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D-1일 17:00  2차 예측 (최신 기상으로 보정)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96896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D-1일 저녁    KPX 급전계획 확정, 발전사 통보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889504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D일 실시간    급전지시에 따라 발전 수행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182112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005840" y="347472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※ 변동비 기반 → 가격 최적화 아닌 가용용량 최적화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029200" cy="228600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371600"/>
            <a:ext cx="5029200" cy="54864"/>
          </a:xfrm>
          <a:prstGeom prst="rect">
            <a:avLst/>
          </a:prstGeom>
          <a:solidFill>
            <a:srgbClr val="2DC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55448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CE89"/>
                </a:solidFill>
                <a:latin typeface="맑은 고딕"/>
              </a:defRPr>
            </a:pPr>
            <a:r>
              <a:t>재생에너지 발전량 예측제도 (2021.10~)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01168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20MW 초과 태양광/풍력 → 예측 제출 의무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304288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D-1일 10시, 17시 2차에 걸쳐 제출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596896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기준오차율 충족 시 인센티브, 미충족 시 페널티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889504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6492240" y="3182112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→ 남동발전도 이미 예측을 하고 있음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47472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→ 하지만 구체적 시스템/정확도 미공개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114800"/>
            <a:ext cx="10698480" cy="219456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4206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77F00"/>
                </a:solidFill>
                <a:latin typeface="맑은 고딕"/>
              </a:defRPr>
            </a:pPr>
            <a:r>
              <a:t>경쟁 벤치마크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709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C7"/>
                </a:solidFill>
                <a:latin typeface="맑은 고딕"/>
              </a:defRPr>
            </a:pPr>
            <a:r>
              <a:t>발전사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4709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C7"/>
                </a:solidFill>
                <a:latin typeface="맑은 고딕"/>
              </a:defRPr>
            </a:pPr>
            <a:r>
              <a:t>예측 시스템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4709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C7"/>
                </a:solidFill>
                <a:latin typeface="맑은 고딕"/>
              </a:defRPr>
            </a:pPr>
            <a:r>
              <a:t>정확도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4709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C7"/>
                </a:solidFill>
                <a:latin typeface="맑은 고딕"/>
              </a:defRPr>
            </a:pPr>
            <a:r>
              <a:t>화력 연계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5074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한국중부발전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5074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AI 기반 (제이케이코어 공동 개발)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5074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99% (2026.2 발표)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5074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2030년까지 통합 운영 목표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5440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한전 (KEPCO)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5440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AI 기반 재생에너지 예측 기술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5440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2km 격자, 1주일 예측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0" y="5440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개발 완료 (2021)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88720" y="5806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한국남동발전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0" y="5806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미공개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26480" y="5806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D600"/>
                </a:solidFill>
                <a:latin typeface="맑은 고딕"/>
              </a:defRPr>
            </a:pPr>
            <a:r>
              <a:t>미공개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95360" y="5806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D600"/>
                </a:solidFill>
                <a:latin typeface="맑은 고딕"/>
              </a:defRPr>
            </a:pPr>
            <a:r>
              <a:t>본 플랫폼이 해결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03  플랫폼 3단계 운영 모드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45720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291840" cy="411480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3291840" cy="54864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C7"/>
                </a:solidFill>
                <a:latin typeface="맑은 고딕"/>
              </a:defRPr>
            </a:pPr>
            <a:r>
              <a:t>STEP 1: 사전 대비 (D-1일)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" y="23042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  D-1 10:00  1차 예측 &amp; 대응 계획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9689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  D-1 17:00  2차 보정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88950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1005840" y="318211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사용 기상 데이터: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474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  LDAPS 수치예보 (하루 8회)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7673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  단기예보 (하루 8회)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05993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  초단기예보 (30분마다)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35254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1005840" y="46451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산출물: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937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  24시간 태양광 예측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2303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  화력 액션 플랜 (타임라인)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52297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  시나리오별 비교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81558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  가용용량 신고안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1371600"/>
            <a:ext cx="3291840" cy="411480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89120" y="1371600"/>
            <a:ext cx="3291840" cy="54864"/>
          </a:xfrm>
          <a:prstGeom prst="rect">
            <a:avLst/>
          </a:prstGeom>
          <a:solidFill>
            <a:srgbClr val="2DC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1554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CE89"/>
                </a:solidFill>
                <a:latin typeface="맑은 고딕"/>
              </a:defRPr>
            </a:pPr>
            <a:r>
              <a:t>STEP 2: 실시간 감시 (D일)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2011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4663440" y="23042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  매 30분 예측 갱신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259689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  매 10분 위성 구름 확인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288950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4663440" y="318211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사용 데이터: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3474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  초단기예보 (30분마다)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37673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  위성 영상 (10분마다)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405993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  발전소 기상 실측 (실시간)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0" y="435254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  태양광 발전 실측 (실시간)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46451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</a:p>
        </p:txBody>
      </p:sp>
      <p:sp>
        <p:nvSpPr>
          <p:cNvPr id="34" name="TextBox 33"/>
          <p:cNvSpPr txBox="1"/>
          <p:nvPr/>
        </p:nvSpPr>
        <p:spPr>
          <a:xfrm>
            <a:off x="4663440" y="4937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핵심: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52303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  예측 vs 실측 괴리 감지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0" y="552297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  향후 3~6시간 예측 지속 갱신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46720" y="1371600"/>
            <a:ext cx="3291840" cy="411480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46720" y="1371600"/>
            <a:ext cx="3291840" cy="54864"/>
          </a:xfrm>
          <a:prstGeom prst="rect">
            <a:avLst/>
          </a:prstGeom>
          <a:solidFill>
            <a:srgbClr val="F5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21040" y="1554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365C"/>
                </a:solidFill>
                <a:latin typeface="맑은 고딕"/>
              </a:defRPr>
            </a:pPr>
            <a:r>
              <a:t>STEP 3: 실시간 대응 (이벤트)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2011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</a:p>
        </p:txBody>
      </p:sp>
      <p:sp>
        <p:nvSpPr>
          <p:cNvPr id="41" name="TextBox 40"/>
          <p:cNvSpPr txBox="1"/>
          <p:nvPr/>
        </p:nvSpPr>
        <p:spPr>
          <a:xfrm>
            <a:off x="8321040" y="23042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  "현재 태양광이 예측보다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259689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   300MW 적게 나오고 있습니다"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288950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</a:p>
        </p:txBody>
      </p:sp>
      <p:sp>
        <p:nvSpPr>
          <p:cNvPr id="44" name="TextBox 43"/>
          <p:cNvSpPr txBox="1"/>
          <p:nvPr/>
        </p:nvSpPr>
        <p:spPr>
          <a:xfrm>
            <a:off x="8321040" y="318211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시스템 자동 실행: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3474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  최신 기상으로 향후 예측 재계산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40" y="37673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  화력 조정 지시 즉시 업데이트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21040" y="405993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</a:p>
        </p:txBody>
      </p:sp>
      <p:sp>
        <p:nvSpPr>
          <p:cNvPr id="48" name="TextBox 47"/>
          <p:cNvSpPr txBox="1"/>
          <p:nvPr/>
        </p:nvSpPr>
        <p:spPr>
          <a:xfrm>
            <a:off x="8321040" y="435254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출력 예시: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21040" y="46451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  "영흥 2호 지금 출력 증가"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21040" y="4937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  "분당 1호 기동 준비 (45분)"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21040" y="52303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</a:p>
        </p:txBody>
      </p:sp>
      <p:sp>
        <p:nvSpPr>
          <p:cNvPr id="52" name="TextBox 51"/>
          <p:cNvSpPr txBox="1"/>
          <p:nvPr/>
        </p:nvSpPr>
        <p:spPr>
          <a:xfrm>
            <a:off x="8321040" y="552297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→ 사후 대비가 핵심 가치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99999"/>
                </a:solidFill>
                <a:latin typeface="맑은 고딕"/>
              </a:defRPr>
            </a:pPr>
            <a:r>
              <a:t>사전 계획으로 대부분 커버  →  실시간 감시로 이탈 탐지  →  즉각 대응으로 리스크 제거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04  기상 데이터 전략: 기상청 오차 극복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45720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D600"/>
                </a:solidFill>
                <a:latin typeface="맑은 고딕"/>
              </a:defRPr>
            </a:pPr>
            <a:r>
              <a:t>"기상청이 틀린만큼 틀리는 것 아닌가?" → 기상청 데이터만 쓰면 그렇다. 하지만 다중 소스를 쓰면 극복 가능.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C7"/>
                </a:solidFill>
                <a:latin typeface="맑은 고딕"/>
              </a:defRPr>
            </a:pPr>
            <a:r>
              <a:t>데이터 소스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920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C7"/>
                </a:solidFill>
                <a:latin typeface="맑은 고딕"/>
              </a:defRPr>
            </a:pPr>
            <a:r>
              <a:t>해상도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1920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C7"/>
                </a:solidFill>
                <a:latin typeface="맑은 고딕"/>
              </a:defRPr>
            </a:pPr>
            <a:r>
              <a:t>갱신 주기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9" y="1920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C7"/>
                </a:solidFill>
                <a:latin typeface="맑은 고딕"/>
              </a:defRPr>
            </a:pPr>
            <a:r>
              <a:t>예측 범위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1920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C7"/>
                </a:solidFill>
                <a:latin typeface="맑은 고딕"/>
              </a:defRPr>
            </a:pPr>
            <a:r>
              <a:t>용도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331720"/>
            <a:ext cx="10972800" cy="438912"/>
          </a:xfrm>
          <a:prstGeom prst="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3774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LDAPS 수치예보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3774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1.5km 격자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23774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하루 8회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199" y="23774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48시간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23774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하루전 예측의 주 입력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788920"/>
            <a:ext cx="10972800" cy="438912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8346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단기예보 (동네예보)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28346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5km 격자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8346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하루 8회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199" y="28346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3일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28346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하루전 예측 보조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246120"/>
            <a:ext cx="10972800" cy="438912"/>
          </a:xfrm>
          <a:prstGeom prst="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2918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초단기예보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32918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5km 격자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32918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CE89"/>
                </a:solidFill>
                <a:latin typeface="맑은 고딕"/>
              </a:defRPr>
            </a:pPr>
            <a:r>
              <a:t>30분마다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199" y="32918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6시간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32918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CE89"/>
                </a:solidFill>
                <a:latin typeface="맑은 고딕"/>
              </a:defRPr>
            </a:pPr>
            <a:r>
              <a:t>실시간 보정 핵심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3703320"/>
            <a:ext cx="10972800" cy="438912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3749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위성 영상 (천리안2A)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3749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2km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0" y="3749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CE89"/>
                </a:solidFill>
                <a:latin typeface="맑은 고딕"/>
              </a:defRPr>
            </a:pPr>
            <a:r>
              <a:t>10분마다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199" y="3749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CE89"/>
                </a:solidFill>
                <a:latin typeface="맑은 고딕"/>
              </a:defRPr>
            </a:pPr>
            <a:r>
              <a:t>실시간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09760" y="3749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구름 급변 탐지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4160520"/>
            <a:ext cx="10972800" cy="438912"/>
          </a:xfrm>
          <a:prstGeom prst="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4206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발전소 현장 관측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26080" y="4206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포인트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40" y="4206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CE89"/>
                </a:solidFill>
                <a:latin typeface="맑은 고딕"/>
              </a:defRPr>
            </a:pPr>
            <a:r>
              <a:t>실시간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199" y="4206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현재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09760" y="4206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실측 기반 보정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4617720"/>
            <a:ext cx="10972800" cy="438912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46634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태양광 발전 실측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26080" y="46634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인버터별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20640" y="46634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CE89"/>
                </a:solidFill>
                <a:latin typeface="맑은 고딕"/>
              </a:defRPr>
            </a:pPr>
            <a:r>
              <a:t>실시간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199" y="46634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현재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09760" y="46634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예측 vs 실측 비교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31520" y="5029200"/>
            <a:ext cx="10698480" cy="137160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88720" y="5166360"/>
            <a:ext cx="9784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맑은 고딕"/>
              </a:defRPr>
            </a:pPr>
            <a:r>
              <a:t>핵심: 기상청 수치예보(LDAPS)만 쓰면 구름 예측 오차 = 발전량 예측 오차</a:t>
            </a:r>
            <a:br/>
            <a:r>
              <a:t>→ 위성 구름 관측 + 실시간 실측 + 과거 패턴 보정을 더하면 기상청보다 정확할 수 있음</a:t>
            </a:r>
            <a:br/>
            <a:r>
              <a:t>→ 특히 2~3시간 이내 초단기 예측에서는 위성 기반이 NWP보다 우수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05  태양광 예측 모델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45720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920240" cy="201168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920240" cy="54864"/>
          </a:xfrm>
          <a:prstGeom prst="rect">
            <a:avLst/>
          </a:prstGeom>
          <a:solidFill>
            <a:srgbClr val="F5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통계 모델</a:t>
            </a:r>
            <a:br/>
            <a:r>
              <a:t>(회귀, ARIMA)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7744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5365C"/>
                </a:solidFill>
                <a:latin typeface="맑은 고딕"/>
              </a:defRPr>
            </a:pPr>
            <a:r>
              <a:t>nRMSE</a:t>
            </a:r>
            <a:br/>
            <a:r>
              <a:t>15~25%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1371600"/>
            <a:ext cx="1920240" cy="201168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26080" y="1371600"/>
            <a:ext cx="1920240" cy="54864"/>
          </a:xfrm>
          <a:prstGeom prst="rect">
            <a:avLst/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40" y="155448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ML</a:t>
            </a:r>
            <a:br/>
            <a:r>
              <a:t>(XGBoost 등)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37744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77F00"/>
                </a:solidFill>
                <a:latin typeface="맑은 고딕"/>
              </a:defRPr>
            </a:pPr>
            <a:r>
              <a:t>nRMSE</a:t>
            </a:r>
            <a:br/>
            <a:r>
              <a:t>10~18%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1371600"/>
            <a:ext cx="1920240" cy="201168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120640" y="1371600"/>
            <a:ext cx="1920240" cy="54864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57800" y="155448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DL</a:t>
            </a:r>
            <a:br/>
            <a:r>
              <a:t>(LSTM, GRU)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237744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D600"/>
                </a:solidFill>
                <a:latin typeface="맑은 고딕"/>
              </a:defRPr>
            </a:pPr>
            <a:r>
              <a:t>nRMSE</a:t>
            </a:r>
            <a:br/>
            <a:r>
              <a:t>8~15%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199" y="1371600"/>
            <a:ext cx="1920240" cy="201168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199" y="1371600"/>
            <a:ext cx="1920240" cy="54864"/>
          </a:xfrm>
          <a:prstGeom prst="rect">
            <a:avLst/>
          </a:prstGeom>
          <a:solidFill>
            <a:srgbClr val="2DC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52359" y="155448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베이지안+GRU</a:t>
            </a:r>
            <a:br/>
            <a:r>
              <a:t>(제안 모델)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59" y="237744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DCE89"/>
                </a:solidFill>
                <a:latin typeface="맑은 고딕"/>
              </a:defRPr>
            </a:pPr>
            <a:r>
              <a:t>nRMSE</a:t>
            </a:r>
            <a:br/>
            <a:r>
              <a:t>7~12%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09760" y="1371600"/>
            <a:ext cx="1920240" cy="201168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509760" y="1371600"/>
            <a:ext cx="1920240" cy="54864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46920" y="155448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위성 Nowcast</a:t>
            </a:r>
            <a:br/>
            <a:r>
              <a:t>(초단기)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6920" y="237744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C7"/>
                </a:solidFill>
                <a:latin typeface="맑은 고딕"/>
              </a:defRPr>
            </a:pPr>
            <a:r>
              <a:t>nRMSE</a:t>
            </a:r>
            <a:br/>
            <a:r>
              <a:t>5~10%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749039"/>
            <a:ext cx="10698480" cy="91440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20" y="3840480"/>
            <a:ext cx="9784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D600"/>
                </a:solidFill>
                <a:latin typeface="맑은 고딕"/>
              </a:defRPr>
            </a:pPr>
            <a:r>
              <a:t>MVP 전략: 검증된 ML(XGBoost/LSTM)로 시작 → 데이터 축적 후 베이지안+GRU 확장</a:t>
            </a:r>
            <a:br/>
            <a:r>
              <a:t>전제 조건: 남동발전 기존 예측보다 정확하지 않으면 가치 없음 → 기존 정확도 먼저 파악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937760"/>
            <a:ext cx="5029200" cy="155448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4937760"/>
            <a:ext cx="5029200" cy="54864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12064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C7"/>
                </a:solidFill>
                <a:latin typeface="맑은 고딕"/>
              </a:defRPr>
            </a:pPr>
            <a:r>
              <a:t>1단계: 베이지안 계층모형 (구조 추정)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557784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지역별 기상 민감도, 시간/계절 구조를 posterior로 추정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5870448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부분풀링 → 데이터 적은 사이트도 안정 추정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6163056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출력: baseline 예측 + 잔차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4937760"/>
            <a:ext cx="5029200" cy="155448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7920" y="4937760"/>
            <a:ext cx="5029200" cy="54864"/>
          </a:xfrm>
          <a:prstGeom prst="rect">
            <a:avLst/>
          </a:prstGeom>
          <a:solidFill>
            <a:srgbClr val="2DC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512064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CE89"/>
                </a:solidFill>
                <a:latin typeface="맑은 고딕"/>
              </a:defRPr>
            </a:pPr>
            <a:r>
              <a:t>2단계: FiLM-조건부 GRU (잔차 학습)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557784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구름 급변, NWP 오차, ramp event 등 비선형 패턴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5870448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지역별 posterior 요약을 FiLM 조건벡터로 주입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6163056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Direct multi-horizon 출력 (1~24시간)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06  화력 대응 계획 생성 (핵심 기능)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45720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D600"/>
                </a:solidFill>
                <a:latin typeface="맑은 고딕"/>
              </a:defRPr>
            </a:pPr>
            <a:r>
              <a:t>태양광 예측이 입력이고, 나오는 결과는 "발전기별로 몇 시에 무슨 행동을 하라"는 액션 플랜이다.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2011680" cy="164592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2011680" cy="45720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D600"/>
                </a:solidFill>
                <a:latin typeface="맑은 고딕"/>
              </a:defRPr>
            </a:pPr>
            <a:r>
              <a:t>태양광 예측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내일 시간대별</a:t>
            </a:r>
            <a:br/>
            <a:r>
              <a:t>발전량 예측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21945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99999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40" y="1737360"/>
            <a:ext cx="2011680" cy="164592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34640" y="1737360"/>
            <a:ext cx="2011680" cy="45720"/>
          </a:xfrm>
          <a:prstGeom prst="rect">
            <a:avLst/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0" y="187451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77F00"/>
                </a:solidFill>
                <a:latin typeface="맑은 고딕"/>
              </a:defRPr>
            </a:pPr>
            <a:r>
              <a:t>갭 계산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2860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수요 - 태양광 - 고정화력</a:t>
            </a:r>
            <a:br/>
            <a:r>
              <a:t>= 부족/과잉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1945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99999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0640" y="1737360"/>
            <a:ext cx="2011680" cy="164592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20640" y="1737360"/>
            <a:ext cx="2011680" cy="45720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187451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96C7"/>
                </a:solidFill>
                <a:latin typeface="맑은 고딕"/>
              </a:defRPr>
            </a:pPr>
            <a:r>
              <a:t>UC 최적화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22860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MILP로 24시간</a:t>
            </a:r>
            <a:br/>
            <a:r>
              <a:t>최적 조합 산출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21945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99999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1737360"/>
            <a:ext cx="2011680" cy="164592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06640" y="1737360"/>
            <a:ext cx="2011680" cy="45720"/>
          </a:xfrm>
          <a:prstGeom prst="rect">
            <a:avLst/>
          </a:prstGeom>
          <a:solidFill>
            <a:srgbClr val="2DC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0" y="187451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DCE89"/>
                </a:solidFill>
                <a:latin typeface="맑은 고딕"/>
              </a:defRPr>
            </a:pPr>
            <a:r>
              <a:t>역산 타이밍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0" y="22860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발전기별</a:t>
            </a:r>
            <a:br/>
            <a:r>
              <a:t>"몇시에 몇MW"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21945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99999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92640" y="1737360"/>
            <a:ext cx="2011680" cy="164592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92640" y="1737360"/>
            <a:ext cx="201168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4080" y="187451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액션 플랜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22860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운영자용</a:t>
            </a:r>
            <a:br/>
            <a:r>
              <a:t>타임라인 출력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3749039"/>
            <a:ext cx="10698480" cy="274320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3840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CE89"/>
                </a:solidFill>
                <a:latin typeface="맑은 고딕"/>
              </a:defRPr>
            </a:pPr>
            <a:r>
              <a:t>액션 플랜 출력 예시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4251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C7"/>
                </a:solidFill>
                <a:latin typeface="맑은 고딕"/>
              </a:defRPr>
            </a:pPr>
            <a:r>
              <a:t>시간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251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C7"/>
                </a:solidFill>
                <a:latin typeface="맑은 고딕"/>
              </a:defRPr>
            </a:pPr>
            <a:r>
              <a:t>발전기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0" y="4251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C7"/>
                </a:solidFill>
                <a:latin typeface="맑은 고딕"/>
              </a:defRPr>
            </a:pPr>
            <a:r>
              <a:t>액션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4251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C7"/>
                </a:solidFill>
                <a:latin typeface="맑은 고딕"/>
              </a:defRPr>
            </a:pPr>
            <a:r>
              <a:t>목표 출력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4526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맑은 고딕"/>
              </a:defRPr>
            </a:pPr>
            <a:r>
              <a:t>12:37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526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맑은 고딕"/>
              </a:defRPr>
            </a:pPr>
            <a:r>
              <a:t>영흥 1호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35040" y="4526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D600"/>
                </a:solidFill>
                <a:latin typeface="맑은 고딕"/>
              </a:defRPr>
            </a:pPr>
            <a:r>
              <a:t>출력 증가 시작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0" y="4526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맑은 고딕"/>
              </a:defRPr>
            </a:pPr>
            <a:r>
              <a:t>520 → 700MW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" y="4800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맑은 고딕"/>
              </a:defRPr>
            </a:pPr>
            <a:r>
              <a:t>13:00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4800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맑은 고딕"/>
              </a:defRPr>
            </a:pPr>
            <a:r>
              <a:t>영흥 1호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35040" y="4800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CE89"/>
                </a:solidFill>
                <a:latin typeface="맑은 고딕"/>
              </a:defRPr>
            </a:pPr>
            <a:r>
              <a:t>700MW 도달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03920" y="4800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맑은 고딕"/>
              </a:defRPr>
            </a:pPr>
            <a:r>
              <a:t>700MW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50749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맑은 고딕"/>
              </a:defRPr>
            </a:pPr>
            <a:r>
              <a:t>13:30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66160" y="50749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맑은 고딕"/>
              </a:defRPr>
            </a:pPr>
            <a:r>
              <a:t>영흥 4호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040" y="50749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D600"/>
                </a:solidFill>
                <a:latin typeface="맑은 고딕"/>
              </a:defRPr>
            </a:pPr>
            <a:r>
              <a:t>출력 증가 시작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03920" y="50749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맑은 고딕"/>
              </a:defRPr>
            </a:pPr>
            <a:r>
              <a:t>520 → 870MW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7280" y="5349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맑은 고딕"/>
              </a:defRPr>
            </a:pPr>
            <a:r>
              <a:t>14:00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66160" y="5349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맑은 고딕"/>
              </a:defRPr>
            </a:pPr>
            <a:r>
              <a:t>분당 1호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35040" y="5349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D600"/>
                </a:solidFill>
                <a:latin typeface="맑은 고딕"/>
              </a:defRPr>
            </a:pPr>
            <a:r>
              <a:t>기동 준비 시작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03920" y="5349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맑은 고딕"/>
              </a:defRPr>
            </a:pPr>
            <a:r>
              <a:t>(정지 → 기동)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97280" y="5623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맑은 고딕"/>
              </a:defRPr>
            </a:pPr>
            <a:r>
              <a:t>14:23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66160" y="5623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맑은 고딕"/>
              </a:defRPr>
            </a:pPr>
            <a:r>
              <a:t>영흥 4호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35040" y="5623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CE89"/>
                </a:solidFill>
                <a:latin typeface="맑은 고딕"/>
              </a:defRPr>
            </a:pPr>
            <a:r>
              <a:t>870MW 도달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03920" y="5623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맑은 고딕"/>
              </a:defRPr>
            </a:pPr>
            <a:r>
              <a:t>870MW (최대)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97280" y="5897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맑은 고딕"/>
              </a:defRPr>
            </a:pPr>
            <a:r>
              <a:t>14:45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566160" y="5897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맑은 고딕"/>
              </a:defRPr>
            </a:pPr>
            <a:r>
              <a:t>분당 1호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35040" y="5897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CE89"/>
                </a:solidFill>
                <a:latin typeface="맑은 고딕"/>
              </a:defRPr>
            </a:pPr>
            <a:r>
              <a:t>최소출력 도달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03920" y="5897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맑은 고딕"/>
              </a:defRPr>
            </a:pPr>
            <a:r>
              <a:t>221MW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97280" y="6172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맑은 고딕"/>
              </a:defRPr>
            </a:pPr>
            <a:r>
              <a:t>15:06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566160" y="6172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맑은 고딕"/>
              </a:defRPr>
            </a:pPr>
            <a:r>
              <a:t>분당 1호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035040" y="6172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CE89"/>
                </a:solidFill>
                <a:latin typeface="맑은 고딕"/>
              </a:defRPr>
            </a:pPr>
            <a:r>
              <a:t>400MW 도달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503920" y="6172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맑은 고딕"/>
              </a:defRPr>
            </a:pPr>
            <a:r>
              <a:t>400MW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07  시나리오 비교 — 운영자 의사결정 지원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45720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C7"/>
                </a:solidFill>
                <a:latin typeface="맑은 고딕"/>
              </a:defRPr>
            </a:pPr>
            <a:r>
              <a:t>시나리오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14630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C7"/>
                </a:solidFill>
                <a:latin typeface="맑은 고딕"/>
              </a:defRPr>
            </a:pPr>
            <a:r>
              <a:t>태양광 가정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4630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C7"/>
                </a:solidFill>
                <a:latin typeface="맑은 고딕"/>
              </a:defRPr>
            </a:pPr>
            <a:r>
              <a:t>추가 기동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4630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C7"/>
                </a:solidFill>
                <a:latin typeface="맑은 고딕"/>
              </a:defRPr>
            </a:pPr>
            <a:r>
              <a:t>연료비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14630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C7"/>
                </a:solidFill>
                <a:latin typeface="맑은 고딕"/>
              </a:defRPr>
            </a:pPr>
            <a:r>
              <a:t>예비력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14630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C7"/>
                </a:solidFill>
                <a:latin typeface="맑은 고딕"/>
              </a:defRPr>
            </a:pPr>
            <a:r>
              <a:t>대응 실패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874520"/>
            <a:ext cx="10972800" cy="502920"/>
          </a:xfrm>
          <a:prstGeom prst="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202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CE89"/>
                </a:solidFill>
                <a:latin typeface="맑은 고딕"/>
              </a:defRPr>
            </a:pPr>
            <a:r>
              <a:t>낙관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19202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예측 +10%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9202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없음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9202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기본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19202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충분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19202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없음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423160"/>
            <a:ext cx="10972800" cy="50292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4688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96C7"/>
                </a:solidFill>
                <a:latin typeface="맑은 고딕"/>
              </a:defRPr>
            </a:pPr>
            <a:r>
              <a:t>중립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24688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예측 그대로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24688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영흥1호 증가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4688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+2.1억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24688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충분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24688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없음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2971800"/>
            <a:ext cx="10972800" cy="502920"/>
          </a:xfrm>
          <a:prstGeom prst="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0175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77F00"/>
                </a:solidFill>
                <a:latin typeface="맑은 고딕"/>
              </a:defRPr>
            </a:pPr>
            <a:r>
              <a:t>비관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0" y="30175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예측 -30%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30175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영흥1,4호+분당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30175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+5.8억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30175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주의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0" y="30175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없음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3520440"/>
            <a:ext cx="10972800" cy="50292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35661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5365C"/>
                </a:solidFill>
                <a:latin typeface="맑은 고딕"/>
              </a:defRPr>
            </a:pPr>
            <a:r>
              <a:t>급변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60320" y="35661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14시 50% 감소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35661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분당 즉시 기동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35661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+7.2억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0" y="35661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5365C"/>
                </a:solidFill>
                <a:latin typeface="맑은 고딕"/>
              </a:defRPr>
            </a:pPr>
            <a:r>
              <a:t>위험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75520" y="35661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5365C"/>
                </a:solidFill>
                <a:latin typeface="맑은 고딕"/>
              </a:defRPr>
            </a:pPr>
            <a:r>
              <a:t>지연 가능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4114800"/>
            <a:ext cx="10698480" cy="228600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88720" y="4251960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77F00"/>
                </a:solidFill>
                <a:latin typeface="맑은 고딕"/>
              </a:defRPr>
            </a:pPr>
            <a:r>
              <a:t>운영자 의사결정 포인트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88720" y="4663440"/>
            <a:ext cx="9784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맑은 고딕"/>
              </a:defRPr>
            </a:pPr>
            <a:r>
              <a:t>"비관 시나리오 대비 시 연료비 3.7억 더 들지만, 급전 대응 실패 리스크 0.</a:t>
            </a:r>
            <a:br/>
            <a:r>
              <a:t> 오늘 날씨가 불확실하니 비관으로 간다."</a:t>
            </a:r>
            <a:br/>
            <a:br/>
            <a:r>
              <a:t>→ 시스템은 추천하고, 사람이 최종 판단한다.</a:t>
            </a:r>
            <a:br/>
            <a:r>
              <a:t>→ 판단 근거(비용/예비력/ESG)를 한 화면에서 비교할 수 있게 하는 것이 대시보드의 가치.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08  화력 발전기 운전 제약 파라미터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45720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C7"/>
                </a:solidFill>
                <a:latin typeface="맑은 고딕"/>
              </a:defRPr>
            </a:pPr>
            <a:r>
              <a:t>파라미터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13716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C7"/>
                </a:solidFill>
                <a:latin typeface="맑은 고딕"/>
              </a:defRPr>
            </a:pPr>
            <a:r>
              <a:t>영흥 (석탄)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13716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C7"/>
                </a:solidFill>
                <a:latin typeface="맑은 고딕"/>
              </a:defRPr>
            </a:pPr>
            <a:r>
              <a:t>삼천포 (석탄)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13716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C7"/>
                </a:solidFill>
                <a:latin typeface="맑은 고딕"/>
              </a:defRPr>
            </a:pPr>
            <a:r>
              <a:t>분당 (LNG)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13716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C7"/>
                </a:solidFill>
                <a:latin typeface="맑은 고딕"/>
              </a:defRPr>
            </a:pPr>
            <a:r>
              <a:t>의미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11247120" cy="411480"/>
          </a:xfrm>
          <a:prstGeom prst="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77393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정격출력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177393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870MW/호기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177393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560MW/호기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177393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77F00"/>
                </a:solidFill>
                <a:latin typeface="맑은 고딕"/>
              </a:defRPr>
            </a:pPr>
            <a:r>
              <a:t>460MW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177393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최대 출력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176272"/>
            <a:ext cx="11247120" cy="41148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212847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최소출력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2212847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520MW (60%)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212847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336MW (60%)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212847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77F00"/>
                </a:solidFill>
                <a:latin typeface="맑은 고딕"/>
              </a:defRPr>
            </a:pPr>
            <a:r>
              <a:t>221MW (48%)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2212847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이하로 못 내림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615184"/>
            <a:ext cx="11247120" cy="411480"/>
          </a:xfrm>
          <a:prstGeom prst="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26517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램프업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26517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~15MW/분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26517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~10MW/분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26517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77F00"/>
                </a:solidFill>
                <a:latin typeface="맑은 고딕"/>
              </a:defRPr>
            </a:pPr>
            <a:r>
              <a:t>~30MW/분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26517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분당 증가 한계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054095"/>
            <a:ext cx="11247120" cy="41148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309067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최소기동시간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309067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12시간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0" y="309067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12시간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0" y="309067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77F00"/>
                </a:solidFill>
                <a:latin typeface="맑은 고딕"/>
              </a:defRPr>
            </a:pPr>
            <a:r>
              <a:t>4시간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0" y="309067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켜면 최소 유지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493008"/>
            <a:ext cx="11247120" cy="411480"/>
          </a:xfrm>
          <a:prstGeom prst="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3529584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최소정지시간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34640" y="3529584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8시간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40" y="3529584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8시간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6640" y="3529584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77F00"/>
                </a:solidFill>
                <a:latin typeface="맑은 고딕"/>
              </a:defRPr>
            </a:pPr>
            <a:r>
              <a:t>2시간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92640" y="3529584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끄면 최소 유지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3931920"/>
            <a:ext cx="11247120" cy="41148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396849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Cold 기동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34640" y="396849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16시간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20640" y="396849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16시간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06640" y="396849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77F00"/>
                </a:solidFill>
                <a:latin typeface="맑은 고딕"/>
              </a:defRPr>
            </a:pPr>
            <a:r>
              <a:t>6시간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92640" y="396849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완전 정지 후 재가동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4370832"/>
            <a:ext cx="11247120" cy="411480"/>
          </a:xfrm>
          <a:prstGeom prst="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440740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기동비용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34640" y="440740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~3억원/회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20640" y="440740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~2억원/회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06640" y="440740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77F00"/>
                </a:solidFill>
                <a:latin typeface="맑은 고딕"/>
              </a:defRPr>
            </a:pPr>
            <a:r>
              <a:t>~5천만원/회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92640" y="440740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1회 기동 비용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4809744"/>
            <a:ext cx="11247120" cy="41148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8640" y="4846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변동비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834640" y="4846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~80원/kWh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120640" y="4846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~80원/kWh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06640" y="4846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77F00"/>
                </a:solidFill>
                <a:latin typeface="맑은 고딕"/>
              </a:defRPr>
            </a:pPr>
            <a:r>
              <a:t>~160원/kWh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92640" y="4846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연료비 기반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31520" y="5303520"/>
            <a:ext cx="10698480" cy="109728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88720" y="5394960"/>
            <a:ext cx="9784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맑은 고딕"/>
              </a:defRPr>
            </a:pPr>
            <a:r>
              <a:t>핵심 Trade-off: 석탄 = 싸지만 느리다 (램프 15MW/분, Cold 16시간)  vs  LNG = 비싸지만 빠르다 (램프 30MW/분, Cold 6시간)</a:t>
            </a:r>
            <a:br/>
            <a:r>
              <a:t>→ 태양광 급변 대비에 LNG가 유리하지만 비용 2배. 이 균형을 최적화하는 것이 UC의 역할.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09  남동발전 발전 포트폴리오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45720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291840" cy="320040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3291840" cy="54864"/>
          </a:xfrm>
          <a:prstGeom prst="rect">
            <a:avLst/>
          </a:pr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999999"/>
                </a:solidFill>
                <a:latin typeface="맑은 고딕"/>
              </a:defRPr>
            </a:pPr>
            <a:r>
              <a:t>고정 영역 (건드릴 수 없음)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" y="23042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필수운전 화력 + 최소출력 구간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9689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합계: ~6,387MW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88950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1005840" y="318211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영흥: 최소 3,048MW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474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삼천포: 최소 1,248MW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7673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강릉: 최소 1,248MW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05993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여수: 최소 401MW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35254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분당: 최소 442MW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371600"/>
            <a:ext cx="3291840" cy="320040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9120" y="1371600"/>
            <a:ext cx="3291840" cy="54864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1554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600"/>
                </a:solidFill>
                <a:latin typeface="맑은 고딕"/>
              </a:defRPr>
            </a:pPr>
            <a:r>
              <a:t>예측 영역 (변동, 예측 대상)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011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4663440" y="23042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태양광: 20+ 사이트, 수백MW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259689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  → 변동성 큼, 예측이 핵심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288950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4663440" y="318211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풍력: 영흥, 군위 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3474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  → 변동성 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37673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4663440" y="405993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연료전지: 여수, 분당, 안산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435254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  → 비교적 안정적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46451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4663440" y="4937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해양소수력: 소규모, 안정적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1371600"/>
            <a:ext cx="3291840" cy="320040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6720" y="1371600"/>
            <a:ext cx="3291840" cy="54864"/>
          </a:xfrm>
          <a:prstGeom prst="rect">
            <a:avLst/>
          </a:prstGeom>
          <a:solidFill>
            <a:srgbClr val="2DC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1554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CE89"/>
                </a:solidFill>
                <a:latin typeface="맑은 고딕"/>
              </a:defRPr>
            </a:pPr>
            <a:r>
              <a:t>최적화 영역 (조정 가능)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2011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</a:p>
        </p:txBody>
      </p:sp>
      <p:sp>
        <p:nvSpPr>
          <p:cNvPr id="34" name="TextBox 33"/>
          <p:cNvSpPr txBox="1"/>
          <p:nvPr/>
        </p:nvSpPr>
        <p:spPr>
          <a:xfrm>
            <a:off x="8321040" y="23042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화력의 최소출력~최대출력 사이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259689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조정 가능 범위: ~4,442MW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288950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8321040" y="318211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영흥: 3,048 → 5,080 (+2,032)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3474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삼천포: 1,248 → 2,080 (+832)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37673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분당: 442 → 920 (+478)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405993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</a:p>
        </p:txBody>
      </p:sp>
      <p:sp>
        <p:nvSpPr>
          <p:cNvPr id="41" name="TextBox 40"/>
          <p:cNvSpPr txBox="1"/>
          <p:nvPr/>
        </p:nvSpPr>
        <p:spPr>
          <a:xfrm>
            <a:off x="8321040" y="435254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대기 중 발전기의 기동/정지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46451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→ 이 영역이 최적화 대상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1520" y="4846320"/>
            <a:ext cx="10698480" cy="137160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88720" y="5029200"/>
            <a:ext cx="9784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맑은 고딕"/>
              </a:defRPr>
            </a:pPr>
            <a:r>
              <a:t>전체 공급 = 고정 영역(~6,387MW) + 태양광 예측(변동) + 최적화 영역(0~4,442MW)</a:t>
            </a:r>
            <a:br/>
            <a:br/>
            <a:r>
              <a:t>태양광이 많이 나오면 → 최적화 영역을 줄임 (연료비 절감)</a:t>
            </a:r>
            <a:br/>
            <a:r>
              <a:t>태양광이 적게 나오면 → 최적화 영역을 올림 (수요 충족)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10  ESG: 하이퍼로컬 대기질 영향 예측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45720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291840" cy="274320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3291840" cy="54864"/>
          </a:xfrm>
          <a:prstGeom prst="rect">
            <a:avLst/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77F00"/>
                </a:solidFill>
                <a:latin typeface="맑은 고딕"/>
              </a:defRPr>
            </a:pPr>
            <a:r>
              <a:t>배출량 추정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" y="23042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화력 발전기별 출력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9689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  × 배출계수 (SOx, NOx, PM)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88950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  = 시간대별 배출량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18211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005840" y="3474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데이터: 남동발전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7673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  대기오염물질 배출실적 API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371600"/>
            <a:ext cx="3291840" cy="274320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1371600"/>
            <a:ext cx="3291840" cy="54864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1554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C7"/>
                </a:solidFill>
                <a:latin typeface="맑은 고딕"/>
              </a:defRPr>
            </a:pPr>
            <a:r>
              <a:t>확산 모델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011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4663440" y="23042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풍속, 풍향, 대기안정도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59689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  → 가우시안 확산 모델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288950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  → 영향권 계산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318211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4663440" y="3474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데이터: 남동발전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37673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  발전소 기상정보 API (풍향/풍속)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1371600"/>
            <a:ext cx="3291840" cy="274320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46720" y="1371600"/>
            <a:ext cx="3291840" cy="54864"/>
          </a:xfrm>
          <a:prstGeom prst="rect">
            <a:avLst/>
          </a:prstGeom>
          <a:solidFill>
            <a:srgbClr val="2DC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1554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CE89"/>
                </a:solidFill>
                <a:latin typeface="맑은 고딕"/>
              </a:defRPr>
            </a:pPr>
            <a:r>
              <a:t>지도 시각화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2011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8321040" y="23042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발전소 중심 영향권 오버레이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259689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민감지역 표시 (주거지, 학교)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288950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8321040" y="318211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시나리오 A vs B 비교: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3474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  "이 안이 환경적으로 더 나아요"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37673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</a:p>
        </p:txBody>
      </p:sp>
      <p:sp>
        <p:nvSpPr>
          <p:cNvPr id="34" name="TextBox 33"/>
          <p:cNvSpPr txBox="1"/>
          <p:nvPr/>
        </p:nvSpPr>
        <p:spPr>
          <a:xfrm>
            <a:off x="8321040" y="405993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ESG 리스크 경고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4572000"/>
            <a:ext cx="10698480" cy="164592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88720" y="4709160"/>
            <a:ext cx="9784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맑은 고딕"/>
              </a:defRPr>
            </a:pPr>
            <a:r>
              <a:t>가치: 화력 가동을 늘릴 때의 환경 영향을 사전에 정량화</a:t>
            </a:r>
            <a:br/>
            <a:br/>
            <a:r>
              <a:t>운영자가 "석탄을 더 돌릴까, LNG를 돌릴까" 판단할 때,</a:t>
            </a:r>
            <a:br/>
            <a:r>
              <a:t>비용뿐 아니라 "영흥 주변 주거지역 NOx +12% vs 분당 주변 +3%"를 함께 보여줌</a:t>
            </a:r>
            <a:br/>
            <a:br/>
            <a:r>
              <a:t>→ ESG 보고서에 정량적 근거 제공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11  MVP 범위 &amp; 로드맵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45720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320040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029200" cy="54864"/>
          </a:xfrm>
          <a:prstGeom prst="rect">
            <a:avLst/>
          </a:prstGeom>
          <a:solidFill>
            <a:srgbClr val="2DC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CE89"/>
                </a:solidFill>
                <a:latin typeface="맑은 고딕"/>
              </a:defRPr>
            </a:pPr>
            <a:r>
              <a:t>MVP (Phase 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" y="2304288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1. 태양광 하루전 예측 (ML 모델)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96896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2. 화력 출력 여유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889504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3. 태양광+화력 겹쳐보기 시각화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182112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4. UC 기반 대응 계획 (액션 플랜 타임라인)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47472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5. 시나리오 비교 (낙관/중립/비관)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767328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6. 가용용량 신고안 출력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059936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7. 기본 운영 대시보드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352544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8. 대기질 영향 지도 (기본)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371600"/>
            <a:ext cx="5029200" cy="320040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371600"/>
            <a:ext cx="5029200" cy="54864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55448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C7"/>
                </a:solidFill>
                <a:latin typeface="맑은 고딕"/>
              </a:defRPr>
            </a:pPr>
            <a:r>
              <a:t>Phase 2 (MVP 이후)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01168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6492240" y="2304288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1. 실시간 감시 &amp; 대응 모드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596896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2. 위성 기반 초단기 예측 (Nowcasting)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889504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3. 베이지안+GRU 고급 예측 모델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182112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4. 풍력 정밀 예측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47472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5. ESS 충방전 최적화 연계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767328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6492240" y="4059936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제외: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352544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  KPX 자동 제출 / 송전망 제약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645152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  발전기 자동 제어 (사람이 최종 판단)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846320"/>
            <a:ext cx="10698480" cy="164592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4937760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77F00"/>
                </a:solidFill>
                <a:latin typeface="맑은 고딕"/>
              </a:defRPr>
            </a:pPr>
            <a:r>
              <a:t>핵심 성공 지표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5349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D600"/>
                </a:solidFill>
                <a:latin typeface="맑은 고딕"/>
              </a:defRPr>
            </a:pPr>
            <a:r>
              <a:t>예측 정확도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56235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nRMSE 10% 이내</a:t>
            </a:r>
            <a:br/>
            <a:r>
              <a:t>(기존 대비 개선)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5349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CE89"/>
                </a:solidFill>
                <a:latin typeface="맑은 고딕"/>
              </a:defRPr>
            </a:pPr>
            <a:r>
              <a:t>급변 탐지율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0" y="56235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80% 이상</a:t>
            </a:r>
            <a:br/>
            <a:r>
              <a:t>사전 탐지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5349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365C"/>
                </a:solidFill>
                <a:latin typeface="맑은 고딕"/>
              </a:defRPr>
            </a:pPr>
            <a:r>
              <a:t>대응 실패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0" y="56235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0건</a:t>
            </a:r>
            <a:br/>
            <a:r>
              <a:t>급전 실패 없음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60" y="5349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6C7"/>
                </a:solidFill>
                <a:latin typeface="맑은 고딕"/>
              </a:defRPr>
            </a:pPr>
            <a:r>
              <a:t>연료비 절감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0" y="56235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불필요 가동</a:t>
            </a:r>
            <a:br/>
            <a:r>
              <a:t>감소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96C7"/>
                </a:solidFill>
                <a:latin typeface="맑은 고딕"/>
              </a:defRPr>
            </a:pPr>
            <a:r>
              <a:t>One-line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태양광 변동성을 다중 기상 데이터로 정밀 예측하고,</a:t>
            </a:r>
            <a:br/>
            <a:r>
              <a:t>이미 가동 중인 화력 포트폴리오에 대해</a:t>
            </a:r>
            <a:br/>
            <a:r>
              <a:t>"언제 어떤 발전기를 얼마나 올리거나 내릴지"</a:t>
            </a:r>
            <a:br/>
            <a:r>
              <a:t>액션 플랜을 생성하는 플랫폼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999999"/>
                </a:solidFill>
                <a:latin typeface="맑은 고딕"/>
              </a:defRPr>
            </a:pPr>
            <a:r>
              <a:t>사전 대비 → 실시간 감시 → 실시간 대응</a:t>
            </a:r>
            <a:br/>
            <a:r>
              <a:t>예측부터 행동까지, 일관된 운영 지원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